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Sniglet" charset="1" panose="04070505030100020000"/>
      <p:regular r:id="rId18"/>
    </p:embeddedFont>
    <p:embeddedFont>
      <p:font typeface="Poppins" charset="1" panose="00000500000000000000"/>
      <p:regular r:id="rId19"/>
    </p:embeddedFont>
    <p:embeddedFont>
      <p:font typeface="Open Sans Bold" charset="1" panose="020B0806030504020204"/>
      <p:regular r:id="rId20"/>
    </p:embeddedFont>
    <p:embeddedFont>
      <p:font typeface="Open Sans" charset="1" panose="020B0606030504020204"/>
      <p:regular r:id="rId21"/>
    </p:embeddedFont>
    <p:embeddedFont>
      <p:font typeface="Gagalin" charset="1" panose="000005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846167" y="1548663"/>
            <a:ext cx="2338040" cy="233804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207435" y="2536708"/>
            <a:ext cx="10899916" cy="3325950"/>
          </a:xfrm>
          <a:prstGeom prst="rect">
            <a:avLst/>
          </a:prstGeom>
        </p:spPr>
        <p:txBody>
          <a:bodyPr anchor="t" rtlCol="false" tIns="0" lIns="0" bIns="0" rIns="0">
            <a:spAutoFit/>
          </a:bodyPr>
          <a:lstStyle/>
          <a:p>
            <a:pPr algn="l">
              <a:lnSpc>
                <a:spcPts val="13355"/>
              </a:lnSpc>
            </a:pPr>
            <a:r>
              <a:rPr lang="en-US" sz="9539">
                <a:solidFill>
                  <a:srgbClr val="FFFFFF"/>
                </a:solidFill>
                <a:latin typeface="Sniglet"/>
                <a:ea typeface="Sniglet"/>
                <a:cs typeface="Sniglet"/>
                <a:sym typeface="Sniglet"/>
              </a:rPr>
              <a:t>WEBSITE CRUD SEPATU WITH </a:t>
            </a:r>
          </a:p>
        </p:txBody>
      </p:sp>
      <p:grpSp>
        <p:nvGrpSpPr>
          <p:cNvPr name="Group 6" id="6"/>
          <p:cNvGrpSpPr/>
          <p:nvPr/>
        </p:nvGrpSpPr>
        <p:grpSpPr>
          <a:xfrm rot="0">
            <a:off x="12791821" y="4157133"/>
            <a:ext cx="7140770" cy="714077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9" id="9"/>
          <p:cNvSpPr/>
          <p:nvPr/>
        </p:nvSpPr>
        <p:spPr>
          <a:xfrm flipH="false" flipV="false" rot="0">
            <a:off x="11994381" y="3070886"/>
            <a:ext cx="4895539" cy="5168036"/>
          </a:xfrm>
          <a:custGeom>
            <a:avLst/>
            <a:gdLst/>
            <a:ahLst/>
            <a:cxnLst/>
            <a:rect r="r" b="b" t="t" l="l"/>
            <a:pathLst>
              <a:path h="5168036" w="4895539">
                <a:moveTo>
                  <a:pt x="0" y="0"/>
                </a:moveTo>
                <a:lnTo>
                  <a:pt x="4895539" y="0"/>
                </a:lnTo>
                <a:lnTo>
                  <a:pt x="4895539" y="5168035"/>
                </a:lnTo>
                <a:lnTo>
                  <a:pt x="0" y="51680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656694"/>
            <a:ext cx="2357470" cy="406320"/>
            <a:chOff x="0" y="0"/>
            <a:chExt cx="620898" cy="107014"/>
          </a:xfrm>
        </p:grpSpPr>
        <p:sp>
          <p:nvSpPr>
            <p:cNvPr name="Freeform 11" id="11"/>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12" id="12"/>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4442150" y="656694"/>
            <a:ext cx="2817150" cy="406320"/>
            <a:chOff x="0" y="0"/>
            <a:chExt cx="741965" cy="107014"/>
          </a:xfrm>
        </p:grpSpPr>
        <p:sp>
          <p:nvSpPr>
            <p:cNvPr name="Freeform 14" id="14"/>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15" id="15"/>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7" id="17"/>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8" id="18"/>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9" id="19"/>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20" id="20"/>
          <p:cNvSpPr txBox="true"/>
          <p:nvPr/>
        </p:nvSpPr>
        <p:spPr>
          <a:xfrm rot="0">
            <a:off x="1891905" y="5757883"/>
            <a:ext cx="8759670" cy="2688793"/>
          </a:xfrm>
          <a:prstGeom prst="rect">
            <a:avLst/>
          </a:prstGeom>
        </p:spPr>
        <p:txBody>
          <a:bodyPr anchor="t" rtlCol="false" tIns="0" lIns="0" bIns="0" rIns="0">
            <a:spAutoFit/>
          </a:bodyPr>
          <a:lstStyle/>
          <a:p>
            <a:pPr algn="just">
              <a:lnSpc>
                <a:spcPts val="7124"/>
              </a:lnSpc>
            </a:pPr>
            <a:r>
              <a:rPr lang="en-US" sz="5088">
                <a:solidFill>
                  <a:srgbClr val="1B4440"/>
                </a:solidFill>
                <a:latin typeface="Sniglet"/>
                <a:ea typeface="Sniglet"/>
                <a:cs typeface="Sniglet"/>
                <a:sym typeface="Sniglet"/>
              </a:rPr>
              <a:t>Nama kelompok </a:t>
            </a:r>
          </a:p>
          <a:p>
            <a:pPr algn="just">
              <a:lnSpc>
                <a:spcPts val="7124"/>
              </a:lnSpc>
            </a:pPr>
            <a:r>
              <a:rPr lang="en-US" sz="5088">
                <a:solidFill>
                  <a:srgbClr val="1B4440"/>
                </a:solidFill>
                <a:latin typeface="Sniglet"/>
                <a:ea typeface="Sniglet"/>
                <a:cs typeface="Sniglet"/>
                <a:sym typeface="Sniglet"/>
              </a:rPr>
              <a:t>oktavia Putri Rahmawati </a:t>
            </a:r>
          </a:p>
          <a:p>
            <a:pPr algn="just">
              <a:lnSpc>
                <a:spcPts val="7124"/>
              </a:lnSpc>
            </a:pPr>
            <a:r>
              <a:rPr lang="en-US" sz="5088">
                <a:solidFill>
                  <a:srgbClr val="1B4440"/>
                </a:solidFill>
                <a:latin typeface="Sniglet"/>
                <a:ea typeface="Sniglet"/>
                <a:cs typeface="Sniglet"/>
                <a:sym typeface="Sniglet"/>
              </a:rPr>
              <a:t>Fina ridiana </a:t>
            </a:r>
          </a:p>
        </p:txBody>
      </p:sp>
      <p:grpSp>
        <p:nvGrpSpPr>
          <p:cNvPr name="Group 21" id="21"/>
          <p:cNvGrpSpPr/>
          <p:nvPr/>
        </p:nvGrpSpPr>
        <p:grpSpPr>
          <a:xfrm rot="0">
            <a:off x="11577408" y="2559482"/>
            <a:ext cx="1214413" cy="121441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23" id="23"/>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4" id="24"/>
          <p:cNvSpPr/>
          <p:nvPr/>
        </p:nvSpPr>
        <p:spPr>
          <a:xfrm flipH="false" flipV="false" rot="0">
            <a:off x="-505232" y="2559482"/>
            <a:ext cx="2397137" cy="2240234"/>
          </a:xfrm>
          <a:custGeom>
            <a:avLst/>
            <a:gdLst/>
            <a:ahLst/>
            <a:cxnLst/>
            <a:rect r="r" b="b" t="t" l="l"/>
            <a:pathLst>
              <a:path h="2240234" w="2397137">
                <a:moveTo>
                  <a:pt x="0" y="0"/>
                </a:moveTo>
                <a:lnTo>
                  <a:pt x="2397137" y="0"/>
                </a:lnTo>
                <a:lnTo>
                  <a:pt x="2397137" y="2240234"/>
                </a:lnTo>
                <a:lnTo>
                  <a:pt x="0" y="2240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731072" y="8249245"/>
            <a:ext cx="8234485" cy="1922860"/>
          </a:xfrm>
          <a:prstGeom prst="rect">
            <a:avLst/>
          </a:prstGeom>
        </p:spPr>
        <p:txBody>
          <a:bodyPr anchor="t" rtlCol="false" tIns="0" lIns="0" bIns="0" rIns="0">
            <a:spAutoFit/>
          </a:bodyPr>
          <a:lstStyle/>
          <a:p>
            <a:pPr algn="ctr">
              <a:lnSpc>
                <a:spcPts val="7784"/>
              </a:lnSpc>
            </a:pPr>
            <a:r>
              <a:rPr lang="en-US" b="true" sz="5560">
                <a:solidFill>
                  <a:srgbClr val="2C605A"/>
                </a:solidFill>
                <a:latin typeface="Open Sans Bold"/>
                <a:ea typeface="Open Sans Bold"/>
                <a:cs typeface="Open Sans Bold"/>
                <a:sym typeface="Open Sans Bold"/>
              </a:rPr>
              <a:t>smk Astrindo </a:t>
            </a:r>
          </a:p>
          <a:p>
            <a:pPr algn="ctr">
              <a:lnSpc>
                <a:spcPts val="7784"/>
              </a:lnSpc>
            </a:pPr>
            <a:r>
              <a:rPr lang="en-US" b="true" sz="5560">
                <a:solidFill>
                  <a:srgbClr val="2C605A"/>
                </a:solidFill>
                <a:latin typeface="Open Sans Bold"/>
                <a:ea typeface="Open Sans Bold"/>
                <a:cs typeface="Open Sans Bold"/>
                <a:sym typeface="Open Sans Bold"/>
              </a:rPr>
              <a:t>X TKJ 1</a:t>
            </a:r>
          </a:p>
        </p:txBody>
      </p:sp>
      <p:sp>
        <p:nvSpPr>
          <p:cNvPr name="TextBox 26" id="26"/>
          <p:cNvSpPr txBox="true"/>
          <p:nvPr/>
        </p:nvSpPr>
        <p:spPr>
          <a:xfrm rot="0">
            <a:off x="10651575" y="8143671"/>
            <a:ext cx="9652103" cy="1811020"/>
          </a:xfrm>
          <a:prstGeom prst="rect">
            <a:avLst/>
          </a:prstGeom>
        </p:spPr>
        <p:txBody>
          <a:bodyPr anchor="t" rtlCol="false" tIns="0" lIns="0" bIns="0" rIns="0">
            <a:spAutoFit/>
          </a:bodyPr>
          <a:lstStyle/>
          <a:p>
            <a:pPr algn="ctr">
              <a:lnSpc>
                <a:spcPts val="7279"/>
              </a:lnSpc>
            </a:pPr>
            <a:r>
              <a:rPr lang="en-US" b="true" sz="5199">
                <a:solidFill>
                  <a:srgbClr val="1B4440"/>
                </a:solidFill>
                <a:latin typeface="Open Sans Bold"/>
                <a:ea typeface="Open Sans Bold"/>
                <a:cs typeface="Open Sans Bold"/>
                <a:sym typeface="Open Sans Bold"/>
              </a:rPr>
              <a:t>Hari Rabu </a:t>
            </a:r>
          </a:p>
          <a:p>
            <a:pPr algn="ctr">
              <a:lnSpc>
                <a:spcPts val="7279"/>
              </a:lnSpc>
            </a:pPr>
            <a:r>
              <a:rPr lang="en-US" b="true" sz="5199">
                <a:solidFill>
                  <a:srgbClr val="1B4440"/>
                </a:solidFill>
                <a:latin typeface="Open Sans Bold"/>
                <a:ea typeface="Open Sans Bold"/>
                <a:cs typeface="Open Sans Bold"/>
                <a:sym typeface="Open Sans Bold"/>
              </a:rPr>
              <a:t>29,10,2025</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442150" y="656694"/>
            <a:ext cx="2817150" cy="406320"/>
            <a:chOff x="0" y="0"/>
            <a:chExt cx="741965" cy="107014"/>
          </a:xfrm>
        </p:grpSpPr>
        <p:sp>
          <p:nvSpPr>
            <p:cNvPr name="Freeform 6" id="6"/>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81186" y="8234548"/>
            <a:ext cx="2788622" cy="278862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7137248" y="2216306"/>
            <a:ext cx="1810143" cy="181014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14666389" y="7354116"/>
            <a:ext cx="3232638" cy="2932884"/>
          </a:xfrm>
          <a:custGeom>
            <a:avLst/>
            <a:gdLst/>
            <a:ahLst/>
            <a:cxnLst/>
            <a:rect r="r" b="b" t="t" l="l"/>
            <a:pathLst>
              <a:path h="2932884" w="3232638">
                <a:moveTo>
                  <a:pt x="0" y="0"/>
                </a:moveTo>
                <a:lnTo>
                  <a:pt x="3232638" y="0"/>
                </a:lnTo>
                <a:lnTo>
                  <a:pt x="3232638" y="2932884"/>
                </a:lnTo>
                <a:lnTo>
                  <a:pt x="0" y="29328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389582" y="2581902"/>
            <a:ext cx="2836565" cy="2889094"/>
          </a:xfrm>
          <a:custGeom>
            <a:avLst/>
            <a:gdLst/>
            <a:ahLst/>
            <a:cxnLst/>
            <a:rect r="r" b="b" t="t" l="l"/>
            <a:pathLst>
              <a:path h="2889094" w="2836565">
                <a:moveTo>
                  <a:pt x="0" y="0"/>
                </a:moveTo>
                <a:lnTo>
                  <a:pt x="2836564" y="0"/>
                </a:lnTo>
                <a:lnTo>
                  <a:pt x="2836564" y="2889094"/>
                </a:lnTo>
                <a:lnTo>
                  <a:pt x="0" y="28890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5392152" y="1800759"/>
            <a:ext cx="7503697" cy="1409886"/>
          </a:xfrm>
          <a:prstGeom prst="rect">
            <a:avLst/>
          </a:prstGeom>
        </p:spPr>
        <p:txBody>
          <a:bodyPr anchor="t" rtlCol="false" tIns="0" lIns="0" bIns="0" rIns="0">
            <a:spAutoFit/>
          </a:bodyPr>
          <a:lstStyle/>
          <a:p>
            <a:pPr algn="ctr" marL="0" indent="0" lvl="0">
              <a:lnSpc>
                <a:spcPts val="11634"/>
              </a:lnSpc>
              <a:spcBef>
                <a:spcPct val="0"/>
              </a:spcBef>
            </a:pPr>
            <a:r>
              <a:rPr lang="en-US" sz="8310">
                <a:solidFill>
                  <a:srgbClr val="FFFFFF"/>
                </a:solidFill>
                <a:latin typeface="Sniglet"/>
                <a:ea typeface="Sniglet"/>
                <a:cs typeface="Sniglet"/>
                <a:sym typeface="Sniglet"/>
              </a:rPr>
              <a:t>latar belakang </a:t>
            </a:r>
          </a:p>
        </p:txBody>
      </p:sp>
      <p:sp>
        <p:nvSpPr>
          <p:cNvPr name="TextBox 17" id="17"/>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8" id="18"/>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9" id="19"/>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20" id="20"/>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21" id="21"/>
          <p:cNvSpPr txBox="true"/>
          <p:nvPr/>
        </p:nvSpPr>
        <p:spPr>
          <a:xfrm rot="0">
            <a:off x="3783624" y="3757131"/>
            <a:ext cx="10658526" cy="4659630"/>
          </a:xfrm>
          <a:prstGeom prst="rect">
            <a:avLst/>
          </a:prstGeom>
        </p:spPr>
        <p:txBody>
          <a:bodyPr anchor="t" rtlCol="false" tIns="0" lIns="0" bIns="0" rIns="0">
            <a:spAutoFit/>
          </a:bodyPr>
          <a:lstStyle/>
          <a:p>
            <a:pPr algn="just">
              <a:lnSpc>
                <a:spcPts val="4620"/>
              </a:lnSpc>
            </a:pPr>
            <a:r>
              <a:rPr lang="en-US" sz="3300">
                <a:solidFill>
                  <a:srgbClr val="1B4440"/>
                </a:solidFill>
                <a:latin typeface="Poppins"/>
                <a:ea typeface="Poppins"/>
                <a:cs typeface="Poppins"/>
                <a:sym typeface="Poppins"/>
              </a:rPr>
              <a:t>Perkembangan teknologi yang pesat membuat banyak orang lebih memilih berbelanja secara online. Website penjualan sepatu dibuat untuk memudahkan konsumen dalam mencari, memilih, dan membeli sepatu tanpa harus datang ke toko. Dengan adanya website ini, proses promosi dan penjualan menjadi lebih efisien, cepat, dan dapat menjangkau lebih banyak pelanggan.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442150" y="656694"/>
            <a:ext cx="2817150" cy="406320"/>
            <a:chOff x="0" y="0"/>
            <a:chExt cx="741965" cy="107014"/>
          </a:xfrm>
        </p:grpSpPr>
        <p:sp>
          <p:nvSpPr>
            <p:cNvPr name="Freeform 6" id="6"/>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470394" y="1961876"/>
            <a:ext cx="6239584" cy="623958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true" flipV="false" rot="0">
            <a:off x="10583302" y="3739048"/>
            <a:ext cx="6553946" cy="4992915"/>
          </a:xfrm>
          <a:custGeom>
            <a:avLst/>
            <a:gdLst/>
            <a:ahLst/>
            <a:cxnLst/>
            <a:rect r="r" b="b" t="t" l="l"/>
            <a:pathLst>
              <a:path h="4992915" w="6553946">
                <a:moveTo>
                  <a:pt x="6553946" y="0"/>
                </a:moveTo>
                <a:lnTo>
                  <a:pt x="0" y="0"/>
                </a:lnTo>
                <a:lnTo>
                  <a:pt x="0" y="4992915"/>
                </a:lnTo>
                <a:lnTo>
                  <a:pt x="6553946" y="4992915"/>
                </a:lnTo>
                <a:lnTo>
                  <a:pt x="65539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740999" y="6647479"/>
            <a:ext cx="1789130" cy="178913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6" id="16"/>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7" id="17"/>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8" id="18"/>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19" id="19"/>
          <p:cNvSpPr txBox="true"/>
          <p:nvPr/>
        </p:nvSpPr>
        <p:spPr>
          <a:xfrm rot="0">
            <a:off x="1464260" y="4100891"/>
            <a:ext cx="7679740" cy="3063314"/>
          </a:xfrm>
          <a:prstGeom prst="rect">
            <a:avLst/>
          </a:prstGeom>
        </p:spPr>
        <p:txBody>
          <a:bodyPr anchor="t" rtlCol="false" tIns="0" lIns="0" bIns="0" rIns="0">
            <a:spAutoFit/>
          </a:bodyPr>
          <a:lstStyle/>
          <a:p>
            <a:pPr algn="just">
              <a:lnSpc>
                <a:spcPts val="3487"/>
              </a:lnSpc>
            </a:pPr>
            <a:r>
              <a:rPr lang="en-US" sz="2491">
                <a:solidFill>
                  <a:srgbClr val="1B4440"/>
                </a:solidFill>
                <a:latin typeface="Poppins"/>
                <a:ea typeface="Poppins"/>
                <a:cs typeface="Poppins"/>
                <a:sym typeface="Poppins"/>
              </a:rPr>
              <a:t>Tujuan proyek website sepatu ini adalah untuk mempermudah pelanggan dalam melihat dan membeli berbagai jenis sepatu secara online, serta memperluas jangkauan penjualan dan memperkenalkan merek kepada lebih banyak orang.</a:t>
            </a:r>
          </a:p>
          <a:p>
            <a:pPr algn="just">
              <a:lnSpc>
                <a:spcPts val="3487"/>
              </a:lnSpc>
            </a:pPr>
          </a:p>
        </p:txBody>
      </p:sp>
      <p:sp>
        <p:nvSpPr>
          <p:cNvPr name="TextBox 20" id="20"/>
          <p:cNvSpPr txBox="true"/>
          <p:nvPr/>
        </p:nvSpPr>
        <p:spPr>
          <a:xfrm rot="0">
            <a:off x="1869822" y="2761783"/>
            <a:ext cx="7679740" cy="1049655"/>
          </a:xfrm>
          <a:prstGeom prst="rect">
            <a:avLst/>
          </a:prstGeom>
        </p:spPr>
        <p:txBody>
          <a:bodyPr anchor="t" rtlCol="false" tIns="0" lIns="0" bIns="0" rIns="0">
            <a:spAutoFit/>
          </a:bodyPr>
          <a:lstStyle/>
          <a:p>
            <a:pPr algn="l" marL="0" indent="0" lvl="0">
              <a:lnSpc>
                <a:spcPts val="7979"/>
              </a:lnSpc>
            </a:pPr>
            <a:r>
              <a:rPr lang="en-US" sz="7599">
                <a:solidFill>
                  <a:srgbClr val="FFFFFF"/>
                </a:solidFill>
                <a:latin typeface="Sniglet"/>
                <a:ea typeface="Sniglet"/>
                <a:cs typeface="Sniglet"/>
                <a:sym typeface="Sniglet"/>
              </a:rPr>
              <a:t> tujuan proyek </a:t>
            </a:r>
          </a:p>
        </p:txBody>
      </p:sp>
    </p:spTree>
  </p:cSld>
  <p:clrMapOvr>
    <a:masterClrMapping/>
  </p:clrMapOvr>
</p:sld>
</file>

<file path=ppt/slides/slide4.xml><?xml version="1.0" encoding="utf-8"?>
<p:sld xmlns:p="http://schemas.openxmlformats.org/presentationml/2006/main" xmlns:a="http://schemas.openxmlformats.org/drawingml/2006/main">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396489" y="-1206117"/>
            <a:ext cx="3725622" cy="37256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4442150" y="656694"/>
            <a:ext cx="2817150" cy="406320"/>
            <a:chOff x="0" y="0"/>
            <a:chExt cx="741965" cy="107014"/>
          </a:xfrm>
        </p:grpSpPr>
        <p:sp>
          <p:nvSpPr>
            <p:cNvPr name="Freeform 9" id="9"/>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10" id="10"/>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862811" y="8424189"/>
            <a:ext cx="3725622" cy="372562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5" id="15"/>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6" id="16"/>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7" id="17"/>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18" id="18"/>
          <p:cNvSpPr txBox="true"/>
          <p:nvPr/>
        </p:nvSpPr>
        <p:spPr>
          <a:xfrm rot="0">
            <a:off x="2596401" y="1469850"/>
            <a:ext cx="12343600" cy="1049655"/>
          </a:xfrm>
          <a:prstGeom prst="rect">
            <a:avLst/>
          </a:prstGeom>
        </p:spPr>
        <p:txBody>
          <a:bodyPr anchor="t" rtlCol="false" tIns="0" lIns="0" bIns="0" rIns="0">
            <a:spAutoFit/>
          </a:bodyPr>
          <a:lstStyle/>
          <a:p>
            <a:pPr algn="ctr" marL="0" indent="0" lvl="0">
              <a:lnSpc>
                <a:spcPts val="7979"/>
              </a:lnSpc>
              <a:spcBef>
                <a:spcPct val="0"/>
              </a:spcBef>
            </a:pPr>
            <a:r>
              <a:rPr lang="en-US" sz="7599">
                <a:solidFill>
                  <a:srgbClr val="FFFFFF"/>
                </a:solidFill>
                <a:latin typeface="Sniglet"/>
                <a:ea typeface="Sniglet"/>
                <a:cs typeface="Sniglet"/>
                <a:sym typeface="Sniglet"/>
              </a:rPr>
              <a:t>konsep  CRUD </a:t>
            </a:r>
          </a:p>
        </p:txBody>
      </p:sp>
      <p:sp>
        <p:nvSpPr>
          <p:cNvPr name="TextBox 19" id="19"/>
          <p:cNvSpPr txBox="true"/>
          <p:nvPr/>
        </p:nvSpPr>
        <p:spPr>
          <a:xfrm rot="0">
            <a:off x="1028700" y="2767155"/>
            <a:ext cx="16230600" cy="5838738"/>
          </a:xfrm>
          <a:prstGeom prst="rect">
            <a:avLst/>
          </a:prstGeom>
        </p:spPr>
        <p:txBody>
          <a:bodyPr anchor="t" rtlCol="false" tIns="0" lIns="0" bIns="0" rIns="0">
            <a:spAutoFit/>
          </a:bodyPr>
          <a:lstStyle/>
          <a:p>
            <a:pPr algn="ctr">
              <a:lnSpc>
                <a:spcPts val="4224"/>
              </a:lnSpc>
            </a:pPr>
            <a:r>
              <a:rPr lang="en-US" sz="3017">
                <a:solidFill>
                  <a:srgbClr val="000000"/>
                </a:solidFill>
                <a:latin typeface="Open Sans"/>
                <a:ea typeface="Open Sans"/>
                <a:cs typeface="Open Sans"/>
                <a:sym typeface="Open Sans"/>
              </a:rPr>
              <a:t>1.Create (Membuat)</a:t>
            </a:r>
          </a:p>
          <a:p>
            <a:pPr algn="ctr">
              <a:lnSpc>
                <a:spcPts val="4224"/>
              </a:lnSpc>
            </a:pPr>
            <a:r>
              <a:rPr lang="en-US" sz="3017">
                <a:solidFill>
                  <a:srgbClr val="000000"/>
                </a:solidFill>
                <a:latin typeface="Open Sans"/>
                <a:ea typeface="Open Sans"/>
                <a:cs typeface="Open Sans"/>
                <a:sym typeface="Open Sans"/>
              </a:rPr>
              <a:t>➤ Berfungsi untuk menambahkan data baru, misalnya menambah daftar sepatu baru ke dalam database (nama sepatu, harga, stok, gambar, dll).</a:t>
            </a:r>
          </a:p>
          <a:p>
            <a:pPr algn="ctr">
              <a:lnSpc>
                <a:spcPts val="4224"/>
              </a:lnSpc>
            </a:pPr>
            <a:r>
              <a:rPr lang="en-US" sz="3017">
                <a:solidFill>
                  <a:srgbClr val="000000"/>
                </a:solidFill>
                <a:latin typeface="Open Sans"/>
                <a:ea typeface="Open Sans"/>
                <a:cs typeface="Open Sans"/>
                <a:sym typeface="Open Sans"/>
              </a:rPr>
              <a:t>2. Read (Membaca)</a:t>
            </a:r>
          </a:p>
          <a:p>
            <a:pPr algn="ctr">
              <a:lnSpc>
                <a:spcPts val="4224"/>
              </a:lnSpc>
            </a:pPr>
            <a:r>
              <a:rPr lang="en-US" sz="3017">
                <a:solidFill>
                  <a:srgbClr val="000000"/>
                </a:solidFill>
                <a:latin typeface="Open Sans"/>
                <a:ea typeface="Open Sans"/>
                <a:cs typeface="Open Sans"/>
                <a:sym typeface="Open Sans"/>
              </a:rPr>
              <a:t>➤ Berfungsi untuk menampilkan data sepatu yang sudah tersimpan, seperti daftar produk sepatu di halaman utama.</a:t>
            </a:r>
          </a:p>
          <a:p>
            <a:pPr algn="ctr">
              <a:lnSpc>
                <a:spcPts val="4224"/>
              </a:lnSpc>
            </a:pPr>
            <a:r>
              <a:rPr lang="en-US" sz="3017">
                <a:solidFill>
                  <a:srgbClr val="000000"/>
                </a:solidFill>
                <a:latin typeface="Open Sans"/>
                <a:ea typeface="Open Sans"/>
                <a:cs typeface="Open Sans"/>
                <a:sym typeface="Open Sans"/>
              </a:rPr>
              <a:t>3. Update (Memperbarui)</a:t>
            </a:r>
          </a:p>
          <a:p>
            <a:pPr algn="ctr">
              <a:lnSpc>
                <a:spcPts val="4224"/>
              </a:lnSpc>
            </a:pPr>
            <a:r>
              <a:rPr lang="en-US" sz="3017">
                <a:solidFill>
                  <a:srgbClr val="000000"/>
                </a:solidFill>
                <a:latin typeface="Open Sans"/>
                <a:ea typeface="Open Sans"/>
                <a:cs typeface="Open Sans"/>
                <a:sym typeface="Open Sans"/>
              </a:rPr>
              <a:t>➤ Berfungsi untuk mengubah data sepatu yang sudah ada, misalnya mengganti harga, menambah stok, atau memperbarui deskripsi.</a:t>
            </a:r>
          </a:p>
          <a:p>
            <a:pPr algn="ctr">
              <a:lnSpc>
                <a:spcPts val="4224"/>
              </a:lnSpc>
            </a:pPr>
            <a:r>
              <a:rPr lang="en-US" sz="3017">
                <a:solidFill>
                  <a:srgbClr val="000000"/>
                </a:solidFill>
                <a:latin typeface="Open Sans"/>
                <a:ea typeface="Open Sans"/>
                <a:cs typeface="Open Sans"/>
                <a:sym typeface="Open Sans"/>
              </a:rPr>
              <a:t>4. Delete (Menghapus)</a:t>
            </a:r>
          </a:p>
          <a:p>
            <a:pPr algn="ctr">
              <a:lnSpc>
                <a:spcPts val="4224"/>
              </a:lnSpc>
            </a:pPr>
            <a:r>
              <a:rPr lang="en-US" sz="3017">
                <a:solidFill>
                  <a:srgbClr val="000000"/>
                </a:solidFill>
                <a:latin typeface="Open Sans"/>
                <a:ea typeface="Open Sans"/>
                <a:cs typeface="Open Sans"/>
                <a:sym typeface="Open Sans"/>
              </a:rPr>
              <a:t>➤ Berfungsi untuk menghapus data sepatu yang tidak diperlukan lagi dari database.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442150" y="656694"/>
            <a:ext cx="2817150" cy="406320"/>
            <a:chOff x="0" y="0"/>
            <a:chExt cx="741965" cy="107014"/>
          </a:xfrm>
        </p:grpSpPr>
        <p:sp>
          <p:nvSpPr>
            <p:cNvPr name="Freeform 6" id="6"/>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10800000">
            <a:off x="-1518187" y="2226942"/>
            <a:ext cx="3725622" cy="372562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5407265" y="8888630"/>
            <a:ext cx="3725622" cy="372562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true" flipV="false" rot="0">
            <a:off x="0" y="6657414"/>
            <a:ext cx="4074025" cy="3629586"/>
          </a:xfrm>
          <a:custGeom>
            <a:avLst/>
            <a:gdLst/>
            <a:ahLst/>
            <a:cxnLst/>
            <a:rect r="r" b="b" t="t" l="l"/>
            <a:pathLst>
              <a:path h="3629586" w="4074025">
                <a:moveTo>
                  <a:pt x="4074025" y="0"/>
                </a:moveTo>
                <a:lnTo>
                  <a:pt x="0" y="0"/>
                </a:lnTo>
                <a:lnTo>
                  <a:pt x="0" y="3629586"/>
                </a:lnTo>
                <a:lnTo>
                  <a:pt x="4074025" y="3629586"/>
                </a:lnTo>
                <a:lnTo>
                  <a:pt x="407402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5939561" y="7097985"/>
            <a:ext cx="2639478" cy="2944651"/>
          </a:xfrm>
          <a:custGeom>
            <a:avLst/>
            <a:gdLst/>
            <a:ahLst/>
            <a:cxnLst/>
            <a:rect r="r" b="b" t="t" l="l"/>
            <a:pathLst>
              <a:path h="2944651" w="2639478">
                <a:moveTo>
                  <a:pt x="0" y="0"/>
                </a:moveTo>
                <a:lnTo>
                  <a:pt x="2639478" y="0"/>
                </a:lnTo>
                <a:lnTo>
                  <a:pt x="2639478" y="2944651"/>
                </a:lnTo>
                <a:lnTo>
                  <a:pt x="0" y="29446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7" id="17"/>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8" id="18"/>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9" id="19"/>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20" id="20"/>
          <p:cNvSpPr txBox="true"/>
          <p:nvPr/>
        </p:nvSpPr>
        <p:spPr>
          <a:xfrm rot="0">
            <a:off x="2207435" y="5067300"/>
            <a:ext cx="6097693" cy="4203700"/>
          </a:xfrm>
          <a:prstGeom prst="rect">
            <a:avLst/>
          </a:prstGeom>
        </p:spPr>
        <p:txBody>
          <a:bodyPr anchor="t" rtlCol="false" tIns="0" lIns="0" bIns="0" rIns="0">
            <a:spAutoFit/>
          </a:bodyPr>
          <a:lstStyle/>
          <a:p>
            <a:pPr algn="just">
              <a:lnSpc>
                <a:spcPts val="5599"/>
              </a:lnSpc>
            </a:pPr>
            <a:r>
              <a:rPr lang="en-US" sz="3999">
                <a:solidFill>
                  <a:srgbClr val="1B4440"/>
                </a:solidFill>
                <a:latin typeface="Gagalin"/>
                <a:ea typeface="Gagalin"/>
                <a:cs typeface="Gagalin"/>
                <a:sym typeface="Gagalin"/>
              </a:rPr>
              <a:t>Canva AI dan chat gpt </a:t>
            </a:r>
          </a:p>
          <a:p>
            <a:pPr algn="just">
              <a:lnSpc>
                <a:spcPts val="5599"/>
              </a:lnSpc>
            </a:pPr>
            <a:r>
              <a:rPr lang="en-US" sz="3999">
                <a:solidFill>
                  <a:srgbClr val="1B4440"/>
                </a:solidFill>
                <a:latin typeface="Gagalin"/>
                <a:ea typeface="Gagalin"/>
                <a:cs typeface="Gagalin"/>
                <a:sym typeface="Gagalin"/>
              </a:rPr>
              <a:t>•Canva : untuk membuat desain </a:t>
            </a:r>
          </a:p>
          <a:p>
            <a:pPr algn="just">
              <a:lnSpc>
                <a:spcPts val="5599"/>
              </a:lnSpc>
            </a:pPr>
            <a:r>
              <a:rPr lang="en-US" sz="3999">
                <a:solidFill>
                  <a:srgbClr val="1B4440"/>
                </a:solidFill>
                <a:latin typeface="Gagalin"/>
                <a:ea typeface="Gagalin"/>
                <a:cs typeface="Gagalin"/>
                <a:sym typeface="Gagalin"/>
              </a:rPr>
              <a:t>chat gpt : untuk membuat kode website nya </a:t>
            </a:r>
          </a:p>
          <a:p>
            <a:pPr algn="just">
              <a:lnSpc>
                <a:spcPts val="5599"/>
              </a:lnSpc>
            </a:pPr>
          </a:p>
        </p:txBody>
      </p:sp>
      <p:sp>
        <p:nvSpPr>
          <p:cNvPr name="TextBox 21" id="21"/>
          <p:cNvSpPr txBox="true"/>
          <p:nvPr/>
        </p:nvSpPr>
        <p:spPr>
          <a:xfrm rot="0">
            <a:off x="2972200" y="2458750"/>
            <a:ext cx="12343600" cy="1049655"/>
          </a:xfrm>
          <a:prstGeom prst="rect">
            <a:avLst/>
          </a:prstGeom>
        </p:spPr>
        <p:txBody>
          <a:bodyPr anchor="t" rtlCol="false" tIns="0" lIns="0" bIns="0" rIns="0">
            <a:spAutoFit/>
          </a:bodyPr>
          <a:lstStyle/>
          <a:p>
            <a:pPr algn="ctr" marL="0" indent="0" lvl="0">
              <a:lnSpc>
                <a:spcPts val="7979"/>
              </a:lnSpc>
              <a:spcBef>
                <a:spcPct val="0"/>
              </a:spcBef>
            </a:pPr>
            <a:r>
              <a:rPr lang="en-US" sz="7599">
                <a:solidFill>
                  <a:srgbClr val="FFFFFF"/>
                </a:solidFill>
                <a:latin typeface="Sniglet"/>
                <a:ea typeface="Sniglet"/>
                <a:cs typeface="Sniglet"/>
                <a:sym typeface="Sniglet"/>
              </a:rPr>
              <a:t> alat dan bahan </a:t>
            </a:r>
          </a:p>
        </p:txBody>
      </p:sp>
      <p:sp>
        <p:nvSpPr>
          <p:cNvPr name="TextBox 22" id="22"/>
          <p:cNvSpPr txBox="true"/>
          <p:nvPr/>
        </p:nvSpPr>
        <p:spPr>
          <a:xfrm rot="0">
            <a:off x="11569995" y="5173980"/>
            <a:ext cx="4253103" cy="1180465"/>
          </a:xfrm>
          <a:prstGeom prst="rect">
            <a:avLst/>
          </a:prstGeom>
        </p:spPr>
        <p:txBody>
          <a:bodyPr anchor="t" rtlCol="false" tIns="0" lIns="0" bIns="0" rIns="0">
            <a:spAutoFit/>
          </a:bodyPr>
          <a:lstStyle/>
          <a:p>
            <a:pPr algn="just">
              <a:lnSpc>
                <a:spcPts val="4759"/>
              </a:lnSpc>
            </a:pPr>
            <a:r>
              <a:rPr lang="en-US" sz="3399">
                <a:solidFill>
                  <a:srgbClr val="1B4440"/>
                </a:solidFill>
                <a:latin typeface="Gagalin"/>
                <a:ea typeface="Gagalin"/>
                <a:cs typeface="Gagalin"/>
                <a:sym typeface="Gagalin"/>
              </a:rPr>
              <a:t>Laptop/pc, hp dengan koneksi internet </a:t>
            </a:r>
          </a:p>
        </p:txBody>
      </p:sp>
      <p:sp>
        <p:nvSpPr>
          <p:cNvPr name="TextBox 23" id="23"/>
          <p:cNvSpPr txBox="true"/>
          <p:nvPr/>
        </p:nvSpPr>
        <p:spPr>
          <a:xfrm rot="0">
            <a:off x="1847436" y="3971887"/>
            <a:ext cx="6457693" cy="870870"/>
          </a:xfrm>
          <a:prstGeom prst="rect">
            <a:avLst/>
          </a:prstGeom>
        </p:spPr>
        <p:txBody>
          <a:bodyPr anchor="t" rtlCol="false" tIns="0" lIns="0" bIns="0" rIns="0">
            <a:spAutoFit/>
          </a:bodyPr>
          <a:lstStyle/>
          <a:p>
            <a:pPr algn="ctr">
              <a:lnSpc>
                <a:spcPts val="7124"/>
              </a:lnSpc>
            </a:pPr>
            <a:r>
              <a:rPr lang="en-US" sz="5088">
                <a:solidFill>
                  <a:srgbClr val="1B4440"/>
                </a:solidFill>
                <a:latin typeface="Sniglet"/>
                <a:ea typeface="Sniglet"/>
                <a:cs typeface="Sniglet"/>
                <a:sym typeface="Sniglet"/>
              </a:rPr>
              <a:t>Perangkat lunak </a:t>
            </a:r>
          </a:p>
        </p:txBody>
      </p:sp>
      <p:sp>
        <p:nvSpPr>
          <p:cNvPr name="TextBox 24" id="24"/>
          <p:cNvSpPr txBox="true"/>
          <p:nvPr/>
        </p:nvSpPr>
        <p:spPr>
          <a:xfrm rot="0">
            <a:off x="9144000" y="4000462"/>
            <a:ext cx="9026527" cy="762000"/>
          </a:xfrm>
          <a:prstGeom prst="rect">
            <a:avLst/>
          </a:prstGeom>
        </p:spPr>
        <p:txBody>
          <a:bodyPr anchor="t" rtlCol="false" tIns="0" lIns="0" bIns="0" rIns="0">
            <a:spAutoFit/>
          </a:bodyPr>
          <a:lstStyle/>
          <a:p>
            <a:pPr algn="ctr">
              <a:lnSpc>
                <a:spcPts val="6299"/>
              </a:lnSpc>
            </a:pPr>
            <a:r>
              <a:rPr lang="en-US" sz="4500">
                <a:solidFill>
                  <a:srgbClr val="1B4440"/>
                </a:solidFill>
                <a:latin typeface="Sniglet"/>
                <a:ea typeface="Sniglet"/>
                <a:cs typeface="Sniglet"/>
                <a:sym typeface="Sniglet"/>
              </a:rPr>
              <a:t>Perangkat keras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38854" y="6979119"/>
            <a:ext cx="7325893" cy="732589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656694"/>
            <a:ext cx="2357470" cy="406320"/>
            <a:chOff x="0" y="0"/>
            <a:chExt cx="620898" cy="107014"/>
          </a:xfrm>
        </p:grpSpPr>
        <p:sp>
          <p:nvSpPr>
            <p:cNvPr name="Freeform 6" id="6"/>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046409" y="-2011452"/>
            <a:ext cx="7325893" cy="73258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4442150" y="656694"/>
            <a:ext cx="2817150" cy="406320"/>
            <a:chOff x="0" y="0"/>
            <a:chExt cx="741965" cy="107014"/>
          </a:xfrm>
        </p:grpSpPr>
        <p:sp>
          <p:nvSpPr>
            <p:cNvPr name="Freeform 12" id="12"/>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13" id="13"/>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2213380" y="6402607"/>
            <a:ext cx="3969746" cy="2848292"/>
          </a:xfrm>
          <a:custGeom>
            <a:avLst/>
            <a:gdLst/>
            <a:ahLst/>
            <a:cxnLst/>
            <a:rect r="r" b="b" t="t" l="l"/>
            <a:pathLst>
              <a:path h="2848292" w="3969746">
                <a:moveTo>
                  <a:pt x="0" y="0"/>
                </a:moveTo>
                <a:lnTo>
                  <a:pt x="3969745" y="0"/>
                </a:lnTo>
                <a:lnTo>
                  <a:pt x="3969745" y="2848292"/>
                </a:lnTo>
                <a:lnTo>
                  <a:pt x="0" y="28482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8719647" y="4980562"/>
            <a:ext cx="9223476" cy="5306438"/>
          </a:xfrm>
          <a:custGeom>
            <a:avLst/>
            <a:gdLst/>
            <a:ahLst/>
            <a:cxnLst/>
            <a:rect r="r" b="b" t="t" l="l"/>
            <a:pathLst>
              <a:path h="5306438" w="9223476">
                <a:moveTo>
                  <a:pt x="0" y="0"/>
                </a:moveTo>
                <a:lnTo>
                  <a:pt x="9223475" y="0"/>
                </a:lnTo>
                <a:lnTo>
                  <a:pt x="9223475" y="5306438"/>
                </a:lnTo>
                <a:lnTo>
                  <a:pt x="0" y="5306438"/>
                </a:lnTo>
                <a:lnTo>
                  <a:pt x="0" y="0"/>
                </a:lnTo>
                <a:close/>
              </a:path>
            </a:pathLst>
          </a:custGeom>
          <a:blipFill>
            <a:blip r:embed="rId4"/>
            <a:stretch>
              <a:fillRect l="-1280" t="-11553" r="0" b="-7055"/>
            </a:stretch>
          </a:blipFill>
        </p:spPr>
      </p:sp>
      <p:sp>
        <p:nvSpPr>
          <p:cNvPr name="TextBox 16" id="16"/>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7" id="17"/>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8" id="18"/>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9" id="19"/>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20" id="20"/>
          <p:cNvSpPr txBox="true"/>
          <p:nvPr/>
        </p:nvSpPr>
        <p:spPr>
          <a:xfrm rot="0">
            <a:off x="2838274" y="1483326"/>
            <a:ext cx="13049432" cy="895350"/>
          </a:xfrm>
          <a:prstGeom prst="rect">
            <a:avLst/>
          </a:prstGeom>
        </p:spPr>
        <p:txBody>
          <a:bodyPr anchor="t" rtlCol="false" tIns="0" lIns="0" bIns="0" rIns="0">
            <a:spAutoFit/>
          </a:bodyPr>
          <a:lstStyle/>
          <a:p>
            <a:pPr algn="l" marL="0" indent="0" lvl="0">
              <a:lnSpc>
                <a:spcPts val="6825"/>
              </a:lnSpc>
              <a:spcBef>
                <a:spcPct val="0"/>
              </a:spcBef>
            </a:pPr>
            <a:r>
              <a:rPr lang="en-US" sz="6500">
                <a:solidFill>
                  <a:srgbClr val="FFFFFF"/>
                </a:solidFill>
                <a:latin typeface="Sniglet"/>
                <a:ea typeface="Sniglet"/>
                <a:cs typeface="Sniglet"/>
                <a:sym typeface="Sniglet"/>
              </a:rPr>
              <a:t>desain UI menggunakan  Canva AI </a:t>
            </a:r>
          </a:p>
        </p:txBody>
      </p:sp>
      <p:sp>
        <p:nvSpPr>
          <p:cNvPr name="TextBox 21" id="21"/>
          <p:cNvSpPr txBox="true"/>
          <p:nvPr/>
        </p:nvSpPr>
        <p:spPr>
          <a:xfrm rot="0">
            <a:off x="1559036" y="2975544"/>
            <a:ext cx="9248180" cy="2734945"/>
          </a:xfrm>
          <a:prstGeom prst="rect">
            <a:avLst/>
          </a:prstGeom>
        </p:spPr>
        <p:txBody>
          <a:bodyPr anchor="t" rtlCol="false" tIns="0" lIns="0" bIns="0" rIns="0">
            <a:spAutoFit/>
          </a:bodyPr>
          <a:lstStyle/>
          <a:p>
            <a:pPr algn="ctr">
              <a:lnSpc>
                <a:spcPts val="7279"/>
              </a:lnSpc>
            </a:pPr>
            <a:r>
              <a:rPr lang="en-US" b="true" sz="5199">
                <a:solidFill>
                  <a:srgbClr val="2C605A"/>
                </a:solidFill>
                <a:latin typeface="Open Sans Bold"/>
                <a:ea typeface="Open Sans Bold"/>
                <a:cs typeface="Open Sans Bold"/>
                <a:sym typeface="Open Sans Bold"/>
              </a:rPr>
              <a:t>Canva AI di gunakan untuk :</a:t>
            </a:r>
          </a:p>
          <a:p>
            <a:pPr algn="ctr">
              <a:lnSpc>
                <a:spcPts val="7279"/>
              </a:lnSpc>
            </a:pPr>
            <a:r>
              <a:rPr lang="en-US" b="true" sz="5199">
                <a:solidFill>
                  <a:srgbClr val="2C605A"/>
                </a:solidFill>
                <a:latin typeface="Open Sans Bold"/>
                <a:ea typeface="Open Sans Bold"/>
                <a:cs typeface="Open Sans Bold"/>
                <a:sym typeface="Open Sans Bold"/>
              </a:rPr>
              <a:t>•membuat kode website </a:t>
            </a:r>
          </a:p>
          <a:p>
            <a:pPr algn="ctr">
              <a:lnSpc>
                <a:spcPts val="7279"/>
              </a:lnSpc>
            </a:pPr>
            <a:r>
              <a:rPr lang="en-US" b="true" sz="5199">
                <a:solidFill>
                  <a:srgbClr val="2C605A"/>
                </a:solidFill>
                <a:latin typeface="Open Sans Bold"/>
                <a:ea typeface="Open Sans Bold"/>
                <a:cs typeface="Open Sans Bold"/>
                <a:sym typeface="Open Sans Bold"/>
              </a:rPr>
              <a:t>•desain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442150" y="656694"/>
            <a:ext cx="2817150" cy="406320"/>
            <a:chOff x="0" y="0"/>
            <a:chExt cx="741965" cy="107014"/>
          </a:xfrm>
        </p:grpSpPr>
        <p:sp>
          <p:nvSpPr>
            <p:cNvPr name="Freeform 6" id="6"/>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170761" y="3729217"/>
            <a:ext cx="8786882" cy="878688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1153242" y="4480259"/>
            <a:ext cx="4254023" cy="4114800"/>
          </a:xfrm>
          <a:custGeom>
            <a:avLst/>
            <a:gdLst/>
            <a:ahLst/>
            <a:cxnLst/>
            <a:rect r="r" b="b" t="t" l="l"/>
            <a:pathLst>
              <a:path h="4114800" w="4254023">
                <a:moveTo>
                  <a:pt x="0" y="0"/>
                </a:moveTo>
                <a:lnTo>
                  <a:pt x="4254023" y="0"/>
                </a:lnTo>
                <a:lnTo>
                  <a:pt x="425402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3" id="13"/>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4" id="14"/>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5" id="15"/>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16" id="16"/>
          <p:cNvSpPr txBox="true"/>
          <p:nvPr/>
        </p:nvSpPr>
        <p:spPr>
          <a:xfrm rot="0">
            <a:off x="-3247999" y="970217"/>
            <a:ext cx="14277416" cy="1049655"/>
          </a:xfrm>
          <a:prstGeom prst="rect">
            <a:avLst/>
          </a:prstGeom>
        </p:spPr>
        <p:txBody>
          <a:bodyPr anchor="t" rtlCol="false" tIns="0" lIns="0" bIns="0" rIns="0">
            <a:spAutoFit/>
          </a:bodyPr>
          <a:lstStyle/>
          <a:p>
            <a:pPr algn="ctr" marL="0" indent="0" lvl="0">
              <a:lnSpc>
                <a:spcPts val="7979"/>
              </a:lnSpc>
              <a:spcBef>
                <a:spcPct val="0"/>
              </a:spcBef>
            </a:pPr>
            <a:r>
              <a:rPr lang="en-US" sz="7599">
                <a:solidFill>
                  <a:srgbClr val="FFFFFF"/>
                </a:solidFill>
                <a:latin typeface="Sniglet"/>
                <a:ea typeface="Sniglet"/>
                <a:cs typeface="Sniglet"/>
                <a:sym typeface="Sniglet"/>
              </a:rPr>
              <a:t>cuplikan kode</a:t>
            </a:r>
          </a:p>
        </p:txBody>
      </p:sp>
      <p:grpSp>
        <p:nvGrpSpPr>
          <p:cNvPr name="Group 17" id="17"/>
          <p:cNvGrpSpPr/>
          <p:nvPr/>
        </p:nvGrpSpPr>
        <p:grpSpPr>
          <a:xfrm rot="0">
            <a:off x="-720488" y="1735612"/>
            <a:ext cx="2218248" cy="221824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0" id="20"/>
          <p:cNvSpPr/>
          <p:nvPr/>
        </p:nvSpPr>
        <p:spPr>
          <a:xfrm flipH="false" flipV="false" rot="0">
            <a:off x="-794814" y="2356272"/>
            <a:ext cx="2766957" cy="2787228"/>
          </a:xfrm>
          <a:custGeom>
            <a:avLst/>
            <a:gdLst/>
            <a:ahLst/>
            <a:cxnLst/>
            <a:rect r="r" b="b" t="t" l="l"/>
            <a:pathLst>
              <a:path h="2787228" w="2766957">
                <a:moveTo>
                  <a:pt x="0" y="0"/>
                </a:moveTo>
                <a:lnTo>
                  <a:pt x="2766957" y="0"/>
                </a:lnTo>
                <a:lnTo>
                  <a:pt x="2766957" y="2787228"/>
                </a:lnTo>
                <a:lnTo>
                  <a:pt x="0" y="27872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981301" y="2327697"/>
            <a:ext cx="15423451" cy="7304271"/>
          </a:xfrm>
          <a:prstGeom prst="rect">
            <a:avLst/>
          </a:prstGeom>
        </p:spPr>
        <p:txBody>
          <a:bodyPr anchor="t" rtlCol="false" tIns="0" lIns="0" bIns="0" rIns="0">
            <a:spAutoFit/>
          </a:bodyPr>
          <a:lstStyle/>
          <a:p>
            <a:pPr algn="ctr">
              <a:lnSpc>
                <a:spcPts val="2419"/>
              </a:lnSpc>
            </a:pPr>
            <a:r>
              <a:rPr lang="en-US" sz="1728">
                <a:solidFill>
                  <a:srgbClr val="2C605A"/>
                </a:solidFill>
                <a:latin typeface="Open Sans"/>
                <a:ea typeface="Open Sans"/>
                <a:cs typeface="Open Sans"/>
                <a:sym typeface="Open Sans"/>
              </a:rPr>
              <a:t>&lt;?php</a:t>
            </a:r>
          </a:p>
          <a:p>
            <a:pPr algn="ctr">
              <a:lnSpc>
                <a:spcPts val="2419"/>
              </a:lnSpc>
            </a:pPr>
            <a:r>
              <a:rPr lang="en-US" sz="1728">
                <a:solidFill>
                  <a:srgbClr val="2C605A"/>
                </a:solidFill>
                <a:latin typeface="Open Sans"/>
                <a:ea typeface="Open Sans"/>
                <a:cs typeface="Open Sans"/>
                <a:sym typeface="Open Sans"/>
              </a:rPr>
              <a:t>include 'koneksi.php';</a:t>
            </a:r>
          </a:p>
          <a:p>
            <a:pPr algn="ctr">
              <a:lnSpc>
                <a:spcPts val="2419"/>
              </a:lnSpc>
            </a:pPr>
          </a:p>
          <a:p>
            <a:pPr algn="ctr">
              <a:lnSpc>
                <a:spcPts val="2419"/>
              </a:lnSpc>
            </a:pPr>
            <a:r>
              <a:rPr lang="en-US" sz="1728">
                <a:solidFill>
                  <a:srgbClr val="2C605A"/>
                </a:solidFill>
                <a:latin typeface="Open Sans"/>
                <a:ea typeface="Open Sans"/>
                <a:cs typeface="Open Sans"/>
                <a:sym typeface="Open Sans"/>
              </a:rPr>
              <a:t>// CREATE - Tambah data sepatu</a:t>
            </a:r>
          </a:p>
          <a:p>
            <a:pPr algn="ctr">
              <a:lnSpc>
                <a:spcPts val="2419"/>
              </a:lnSpc>
            </a:pPr>
            <a:r>
              <a:rPr lang="en-US" sz="1728">
                <a:solidFill>
                  <a:srgbClr val="2C605A"/>
                </a:solidFill>
                <a:latin typeface="Open Sans"/>
                <a:ea typeface="Open Sans"/>
                <a:cs typeface="Open Sans"/>
                <a:sym typeface="Open Sans"/>
              </a:rPr>
              <a:t>mysqli_query($koneksi, "INSERT INTO sepatu (nama_sepatu, merk, harga, stok) </a:t>
            </a:r>
          </a:p>
          <a:p>
            <a:pPr algn="ctr">
              <a:lnSpc>
                <a:spcPts val="2419"/>
              </a:lnSpc>
            </a:pPr>
            <a:r>
              <a:rPr lang="en-US" sz="1728">
                <a:solidFill>
                  <a:srgbClr val="2C605A"/>
                </a:solidFill>
                <a:latin typeface="Open Sans"/>
                <a:ea typeface="Open Sans"/>
                <a:cs typeface="Open Sans"/>
                <a:sym typeface="Open Sans"/>
              </a:rPr>
              <a:t>VALUES ('Air Jordan', 'Nike', 2500000, 10)");</a:t>
            </a:r>
          </a:p>
          <a:p>
            <a:pPr algn="ctr">
              <a:lnSpc>
                <a:spcPts val="2419"/>
              </a:lnSpc>
            </a:pPr>
          </a:p>
          <a:p>
            <a:pPr algn="ctr">
              <a:lnSpc>
                <a:spcPts val="2419"/>
              </a:lnSpc>
            </a:pPr>
            <a:r>
              <a:rPr lang="en-US" sz="1728">
                <a:solidFill>
                  <a:srgbClr val="2C605A"/>
                </a:solidFill>
                <a:latin typeface="Open Sans"/>
                <a:ea typeface="Open Sans"/>
                <a:cs typeface="Open Sans"/>
                <a:sym typeface="Open Sans"/>
              </a:rPr>
              <a:t>// READ - Tampilkan data sepatu</a:t>
            </a:r>
          </a:p>
          <a:p>
            <a:pPr algn="ctr">
              <a:lnSpc>
                <a:spcPts val="2419"/>
              </a:lnSpc>
            </a:pPr>
            <a:r>
              <a:rPr lang="en-US" sz="1728">
                <a:solidFill>
                  <a:srgbClr val="2C605A"/>
                </a:solidFill>
                <a:latin typeface="Open Sans"/>
                <a:ea typeface="Open Sans"/>
                <a:cs typeface="Open Sans"/>
                <a:sym typeface="Open Sans"/>
              </a:rPr>
              <a:t>$data = mysqli_query($koneksi, "SELECT * FROM sepatu");</a:t>
            </a:r>
          </a:p>
          <a:p>
            <a:pPr algn="ctr">
              <a:lnSpc>
                <a:spcPts val="2419"/>
              </a:lnSpc>
            </a:pPr>
            <a:r>
              <a:rPr lang="en-US" sz="1728">
                <a:solidFill>
                  <a:srgbClr val="2C605A"/>
                </a:solidFill>
                <a:latin typeface="Open Sans"/>
                <a:ea typeface="Open Sans"/>
                <a:cs typeface="Open Sans"/>
                <a:sym typeface="Open Sans"/>
              </a:rPr>
              <a:t>while($d = mysqli_fetch_array($data)){</a:t>
            </a:r>
          </a:p>
          <a:p>
            <a:pPr algn="ctr">
              <a:lnSpc>
                <a:spcPts val="2419"/>
              </a:lnSpc>
            </a:pPr>
            <a:r>
              <a:rPr lang="en-US" sz="1728">
                <a:solidFill>
                  <a:srgbClr val="2C605A"/>
                </a:solidFill>
                <a:latin typeface="Open Sans"/>
                <a:ea typeface="Open Sans"/>
                <a:cs typeface="Open Sans"/>
                <a:sym typeface="Open Sans"/>
              </a:rPr>
              <a:t>  echo "&lt;tr&gt;</a:t>
            </a:r>
          </a:p>
          <a:p>
            <a:pPr algn="ctr">
              <a:lnSpc>
                <a:spcPts val="2419"/>
              </a:lnSpc>
            </a:pPr>
            <a:r>
              <a:rPr lang="en-US" sz="1728">
                <a:solidFill>
                  <a:srgbClr val="2C605A"/>
                </a:solidFill>
                <a:latin typeface="Open Sans"/>
                <a:ea typeface="Open Sans"/>
                <a:cs typeface="Open Sans"/>
                <a:sym typeface="Open Sans"/>
              </a:rPr>
              <a:t>          &lt;td&gt;".$d['nama_sepatu']."&lt;/td&gt;</a:t>
            </a:r>
          </a:p>
          <a:p>
            <a:pPr algn="ctr">
              <a:lnSpc>
                <a:spcPts val="2419"/>
              </a:lnSpc>
            </a:pPr>
            <a:r>
              <a:rPr lang="en-US" sz="1728">
                <a:solidFill>
                  <a:srgbClr val="2C605A"/>
                </a:solidFill>
                <a:latin typeface="Open Sans"/>
                <a:ea typeface="Open Sans"/>
                <a:cs typeface="Open Sans"/>
                <a:sym typeface="Open Sans"/>
              </a:rPr>
              <a:t>          &lt;td&gt;".$d['merk']."&lt;/td&gt;</a:t>
            </a:r>
          </a:p>
          <a:p>
            <a:pPr algn="ctr">
              <a:lnSpc>
                <a:spcPts val="2419"/>
              </a:lnSpc>
            </a:pPr>
            <a:r>
              <a:rPr lang="en-US" sz="1728">
                <a:solidFill>
                  <a:srgbClr val="2C605A"/>
                </a:solidFill>
                <a:latin typeface="Open Sans"/>
                <a:ea typeface="Open Sans"/>
                <a:cs typeface="Open Sans"/>
                <a:sym typeface="Open Sans"/>
              </a:rPr>
              <a:t>          &lt;td&gt;".$d['harga']."&lt;/td&gt;</a:t>
            </a:r>
          </a:p>
          <a:p>
            <a:pPr algn="ctr">
              <a:lnSpc>
                <a:spcPts val="2419"/>
              </a:lnSpc>
            </a:pPr>
            <a:r>
              <a:rPr lang="en-US" sz="1728">
                <a:solidFill>
                  <a:srgbClr val="2C605A"/>
                </a:solidFill>
                <a:latin typeface="Open Sans"/>
                <a:ea typeface="Open Sans"/>
                <a:cs typeface="Open Sans"/>
                <a:sym typeface="Open Sans"/>
              </a:rPr>
              <a:t>          &lt;td&gt;".$d['stok']."&lt;/td&gt;</a:t>
            </a:r>
          </a:p>
          <a:p>
            <a:pPr algn="ctr">
              <a:lnSpc>
                <a:spcPts val="2419"/>
              </a:lnSpc>
            </a:pPr>
            <a:r>
              <a:rPr lang="en-US" sz="1728">
                <a:solidFill>
                  <a:srgbClr val="2C605A"/>
                </a:solidFill>
                <a:latin typeface="Open Sans"/>
                <a:ea typeface="Open Sans"/>
                <a:cs typeface="Open Sans"/>
                <a:sym typeface="Open Sans"/>
              </a:rPr>
              <a:t>        &lt;/tr&gt;";</a:t>
            </a:r>
          </a:p>
          <a:p>
            <a:pPr algn="ctr">
              <a:lnSpc>
                <a:spcPts val="2419"/>
              </a:lnSpc>
            </a:pPr>
            <a:r>
              <a:rPr lang="en-US" sz="1728">
                <a:solidFill>
                  <a:srgbClr val="2C605A"/>
                </a:solidFill>
                <a:latin typeface="Open Sans"/>
                <a:ea typeface="Open Sans"/>
                <a:cs typeface="Open Sans"/>
                <a:sym typeface="Open Sans"/>
              </a:rPr>
              <a:t>}</a:t>
            </a:r>
          </a:p>
          <a:p>
            <a:pPr algn="ctr">
              <a:lnSpc>
                <a:spcPts val="2419"/>
              </a:lnSpc>
            </a:pPr>
          </a:p>
          <a:p>
            <a:pPr algn="ctr">
              <a:lnSpc>
                <a:spcPts val="2419"/>
              </a:lnSpc>
            </a:pPr>
            <a:r>
              <a:rPr lang="en-US" sz="1728">
                <a:solidFill>
                  <a:srgbClr val="2C605A"/>
                </a:solidFill>
                <a:latin typeface="Open Sans"/>
                <a:ea typeface="Open Sans"/>
                <a:cs typeface="Open Sans"/>
                <a:sym typeface="Open Sans"/>
              </a:rPr>
              <a:t>// UPDATE - Ubah data sepatu</a:t>
            </a:r>
          </a:p>
          <a:p>
            <a:pPr algn="ctr">
              <a:lnSpc>
                <a:spcPts val="2419"/>
              </a:lnSpc>
            </a:pPr>
            <a:r>
              <a:rPr lang="en-US" sz="1728">
                <a:solidFill>
                  <a:srgbClr val="2C605A"/>
                </a:solidFill>
                <a:latin typeface="Open Sans"/>
                <a:ea typeface="Open Sans"/>
                <a:cs typeface="Open Sans"/>
                <a:sym typeface="Open Sans"/>
              </a:rPr>
              <a:t>mysqli_query($koneksi, "UPDATE sepatu SET harga=2700000 WHERE nama_sepatu='Air Jordan'");</a:t>
            </a:r>
          </a:p>
          <a:p>
            <a:pPr algn="ctr">
              <a:lnSpc>
                <a:spcPts val="2419"/>
              </a:lnSpc>
            </a:pPr>
          </a:p>
          <a:p>
            <a:pPr algn="ctr">
              <a:lnSpc>
                <a:spcPts val="2419"/>
              </a:lnSpc>
            </a:pPr>
            <a:r>
              <a:rPr lang="en-US" sz="1728">
                <a:solidFill>
                  <a:srgbClr val="2C605A"/>
                </a:solidFill>
                <a:latin typeface="Open Sans"/>
                <a:ea typeface="Open Sans"/>
                <a:cs typeface="Open Sans"/>
                <a:sym typeface="Open Sans"/>
              </a:rPr>
              <a:t>// DELETE - Hapus data sepatu</a:t>
            </a:r>
          </a:p>
          <a:p>
            <a:pPr algn="ctr">
              <a:lnSpc>
                <a:spcPts val="2419"/>
              </a:lnSpc>
            </a:pPr>
            <a:r>
              <a:rPr lang="en-US" sz="1728">
                <a:solidFill>
                  <a:srgbClr val="2C605A"/>
                </a:solidFill>
                <a:latin typeface="Open Sans"/>
                <a:ea typeface="Open Sans"/>
                <a:cs typeface="Open Sans"/>
                <a:sym typeface="Open Sans"/>
              </a:rPr>
              <a:t>mysqli_query($koneksi, "DELETE FROM sepatu WHERE nama_sepatu='Air Jordan'");</a:t>
            </a:r>
          </a:p>
          <a:p>
            <a:pPr algn="ctr">
              <a:lnSpc>
                <a:spcPts val="2419"/>
              </a:lnSpc>
            </a:pPr>
            <a:r>
              <a:rPr lang="en-US" sz="1728">
                <a:solidFill>
                  <a:srgbClr val="2C605A"/>
                </a:solidFill>
                <a:latin typeface="Open Sans"/>
                <a:ea typeface="Open Sans"/>
                <a:cs typeface="Open Sans"/>
                <a:sym typeface="Open Sans"/>
              </a:rPr>
              <a:t>?&gt;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625723" y="-482826"/>
            <a:ext cx="3023051" cy="302305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7" id="7"/>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4442150" y="656694"/>
            <a:ext cx="2817150" cy="406320"/>
            <a:chOff x="0" y="0"/>
            <a:chExt cx="741965" cy="107014"/>
          </a:xfrm>
        </p:grpSpPr>
        <p:sp>
          <p:nvSpPr>
            <p:cNvPr name="Freeform 9" id="9"/>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10" id="10"/>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761192" y="1325057"/>
            <a:ext cx="10247870" cy="1024787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1713945" y="1630692"/>
            <a:ext cx="2768764" cy="2642912"/>
          </a:xfrm>
          <a:custGeom>
            <a:avLst/>
            <a:gdLst/>
            <a:ahLst/>
            <a:cxnLst/>
            <a:rect r="r" b="b" t="t" l="l"/>
            <a:pathLst>
              <a:path h="2642912" w="2768764">
                <a:moveTo>
                  <a:pt x="0" y="0"/>
                </a:moveTo>
                <a:lnTo>
                  <a:pt x="2768764" y="0"/>
                </a:lnTo>
                <a:lnTo>
                  <a:pt x="2768764" y="2642912"/>
                </a:lnTo>
                <a:lnTo>
                  <a:pt x="0" y="26429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3223213" y="2033370"/>
            <a:ext cx="2397137" cy="2240234"/>
          </a:xfrm>
          <a:custGeom>
            <a:avLst/>
            <a:gdLst/>
            <a:ahLst/>
            <a:cxnLst/>
            <a:rect r="r" b="b" t="t" l="l"/>
            <a:pathLst>
              <a:path h="2240234" w="2397137">
                <a:moveTo>
                  <a:pt x="0" y="0"/>
                </a:moveTo>
                <a:lnTo>
                  <a:pt x="2397138" y="0"/>
                </a:lnTo>
                <a:lnTo>
                  <a:pt x="2397138" y="2240234"/>
                </a:lnTo>
                <a:lnTo>
                  <a:pt x="0" y="22402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7" id="17"/>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8" id="18"/>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9" id="19"/>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20" id="20"/>
          <p:cNvSpPr txBox="true"/>
          <p:nvPr/>
        </p:nvSpPr>
        <p:spPr>
          <a:xfrm rot="0">
            <a:off x="5620351" y="3258262"/>
            <a:ext cx="10802786" cy="1049655"/>
          </a:xfrm>
          <a:prstGeom prst="rect">
            <a:avLst/>
          </a:prstGeom>
        </p:spPr>
        <p:txBody>
          <a:bodyPr anchor="t" rtlCol="false" tIns="0" lIns="0" bIns="0" rIns="0">
            <a:spAutoFit/>
          </a:bodyPr>
          <a:lstStyle/>
          <a:p>
            <a:pPr algn="l" marL="0" indent="0" lvl="0">
              <a:lnSpc>
                <a:spcPts val="7979"/>
              </a:lnSpc>
              <a:spcBef>
                <a:spcPct val="0"/>
              </a:spcBef>
            </a:pPr>
            <a:r>
              <a:rPr lang="en-US" sz="7599">
                <a:solidFill>
                  <a:srgbClr val="FFFFFF"/>
                </a:solidFill>
                <a:latin typeface="Sniglet"/>
                <a:ea typeface="Sniglet"/>
                <a:cs typeface="Sniglet"/>
                <a:sym typeface="Sniglet"/>
              </a:rPr>
              <a:t>Demo / Hasil  website </a:t>
            </a:r>
          </a:p>
        </p:txBody>
      </p:sp>
      <p:sp>
        <p:nvSpPr>
          <p:cNvPr name="TextBox 21" id="21"/>
          <p:cNvSpPr txBox="true"/>
          <p:nvPr/>
        </p:nvSpPr>
        <p:spPr>
          <a:xfrm rot="0">
            <a:off x="1185974" y="4822267"/>
            <a:ext cx="16073326" cy="1811020"/>
          </a:xfrm>
          <a:prstGeom prst="rect">
            <a:avLst/>
          </a:prstGeom>
        </p:spPr>
        <p:txBody>
          <a:bodyPr anchor="t" rtlCol="false" tIns="0" lIns="0" bIns="0" rIns="0">
            <a:spAutoFit/>
          </a:bodyPr>
          <a:lstStyle/>
          <a:p>
            <a:pPr algn="ctr">
              <a:lnSpc>
                <a:spcPts val="7279"/>
              </a:lnSpc>
            </a:pPr>
            <a:r>
              <a:rPr lang="en-US" b="true" sz="5199">
                <a:solidFill>
                  <a:srgbClr val="2C605A"/>
                </a:solidFill>
                <a:latin typeface="Open Sans Bold"/>
                <a:ea typeface="Open Sans Bold"/>
                <a:cs typeface="Open Sans Bold"/>
                <a:sym typeface="Open Sans Bold"/>
              </a:rPr>
              <a:t>https://www.instagram.com/reel/DQGvYcMkc5w/?igsh=MWpiZnd6MG9qZTJxYg==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442150" y="656694"/>
            <a:ext cx="2817150" cy="406320"/>
            <a:chOff x="0" y="0"/>
            <a:chExt cx="741965" cy="107014"/>
          </a:xfrm>
        </p:grpSpPr>
        <p:sp>
          <p:nvSpPr>
            <p:cNvPr name="Freeform 6" id="6"/>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716640" y="4123245"/>
            <a:ext cx="8446721" cy="84467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2342976" y="5674491"/>
            <a:ext cx="4916324" cy="4871631"/>
          </a:xfrm>
          <a:custGeom>
            <a:avLst/>
            <a:gdLst/>
            <a:ahLst/>
            <a:cxnLst/>
            <a:rect r="r" b="b" t="t" l="l"/>
            <a:pathLst>
              <a:path h="4871631" w="4916324">
                <a:moveTo>
                  <a:pt x="0" y="0"/>
                </a:moveTo>
                <a:lnTo>
                  <a:pt x="4916324" y="0"/>
                </a:lnTo>
                <a:lnTo>
                  <a:pt x="4916324" y="4871631"/>
                </a:lnTo>
                <a:lnTo>
                  <a:pt x="0" y="4871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2338471" y="1192045"/>
            <a:ext cx="3951455" cy="395145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6" id="16"/>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7" id="17"/>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8" id="18"/>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19" id="19"/>
          <p:cNvSpPr txBox="true"/>
          <p:nvPr/>
        </p:nvSpPr>
        <p:spPr>
          <a:xfrm rot="0">
            <a:off x="1625567" y="1912787"/>
            <a:ext cx="8840533" cy="1049655"/>
          </a:xfrm>
          <a:prstGeom prst="rect">
            <a:avLst/>
          </a:prstGeom>
        </p:spPr>
        <p:txBody>
          <a:bodyPr anchor="t" rtlCol="false" tIns="0" lIns="0" bIns="0" rIns="0">
            <a:spAutoFit/>
          </a:bodyPr>
          <a:lstStyle/>
          <a:p>
            <a:pPr algn="l" marL="0" indent="0" lvl="0">
              <a:lnSpc>
                <a:spcPts val="7979"/>
              </a:lnSpc>
              <a:spcBef>
                <a:spcPct val="0"/>
              </a:spcBef>
            </a:pPr>
            <a:r>
              <a:rPr lang="en-US" sz="7599">
                <a:solidFill>
                  <a:srgbClr val="FFFFFF"/>
                </a:solidFill>
                <a:latin typeface="Sniglet"/>
                <a:ea typeface="Sniglet"/>
                <a:cs typeface="Sniglet"/>
                <a:sym typeface="Sniglet"/>
              </a:rPr>
              <a:t>Hasil&amp;pembelajaran</a:t>
            </a:r>
          </a:p>
        </p:txBody>
      </p:sp>
      <p:sp>
        <p:nvSpPr>
          <p:cNvPr name="TextBox 20" id="20"/>
          <p:cNvSpPr txBox="true"/>
          <p:nvPr/>
        </p:nvSpPr>
        <p:spPr>
          <a:xfrm rot="0">
            <a:off x="450319" y="3714917"/>
            <a:ext cx="13044059" cy="3772947"/>
          </a:xfrm>
          <a:prstGeom prst="rect">
            <a:avLst/>
          </a:prstGeom>
        </p:spPr>
        <p:txBody>
          <a:bodyPr anchor="t" rtlCol="false" tIns="0" lIns="0" bIns="0" rIns="0">
            <a:spAutoFit/>
          </a:bodyPr>
          <a:lstStyle/>
          <a:p>
            <a:pPr algn="ctr">
              <a:lnSpc>
                <a:spcPts val="5997"/>
              </a:lnSpc>
            </a:pPr>
            <a:r>
              <a:rPr lang="en-US" b="true" sz="4283">
                <a:solidFill>
                  <a:srgbClr val="2C605A"/>
                </a:solidFill>
                <a:latin typeface="Open Sans Bold"/>
                <a:ea typeface="Open Sans Bold"/>
                <a:cs typeface="Open Sans Bold"/>
                <a:sym typeface="Open Sans Bold"/>
              </a:rPr>
              <a:t>📍 Kami belajar:</a:t>
            </a:r>
          </a:p>
          <a:p>
            <a:pPr algn="ctr">
              <a:lnSpc>
                <a:spcPts val="5997"/>
              </a:lnSpc>
            </a:pPr>
            <a:r>
              <a:rPr lang="en-US" b="true" sz="4283">
                <a:solidFill>
                  <a:srgbClr val="2C605A"/>
                </a:solidFill>
                <a:latin typeface="Open Sans Bold"/>
                <a:ea typeface="Open Sans Bold"/>
                <a:cs typeface="Open Sans Bold"/>
                <a:sym typeface="Open Sans Bold"/>
              </a:rPr>
              <a:t>•Mendesain tampilan menarik dengan Canva AI.</a:t>
            </a:r>
          </a:p>
          <a:p>
            <a:pPr algn="ctr">
              <a:lnSpc>
                <a:spcPts val="5997"/>
              </a:lnSpc>
            </a:pPr>
            <a:r>
              <a:rPr lang="en-US" b="true" sz="4283">
                <a:solidFill>
                  <a:srgbClr val="2C605A"/>
                </a:solidFill>
                <a:latin typeface="Open Sans Bold"/>
                <a:ea typeface="Open Sans Bold"/>
                <a:cs typeface="Open Sans Bold"/>
                <a:sym typeface="Open Sans Bold"/>
              </a:rPr>
              <a:t>•Bekerja sama dalam tim dan membagi tugas.</a:t>
            </a:r>
          </a:p>
          <a:p>
            <a:pPr algn="ctr">
              <a:lnSpc>
                <a:spcPts val="5997"/>
              </a:lnSpc>
            </a:pPr>
            <a:r>
              <a:rPr lang="en-US" b="true" sz="4283">
                <a:solidFill>
                  <a:srgbClr val="2C605A"/>
                </a:solidFill>
                <a:latin typeface="Open Sans Bold"/>
                <a:ea typeface="Open Sans Bold"/>
                <a:cs typeface="Open Sans Bold"/>
                <a:sym typeface="Open Sans Bold"/>
              </a:rPr>
              <a:t>•Menyelesaikan error kecil dalam kode (debugging).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442150" y="656694"/>
            <a:ext cx="2817150" cy="406320"/>
            <a:chOff x="0" y="0"/>
            <a:chExt cx="741965" cy="107014"/>
          </a:xfrm>
        </p:grpSpPr>
        <p:sp>
          <p:nvSpPr>
            <p:cNvPr name="Freeform 6" id="6"/>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41018" y="2901342"/>
            <a:ext cx="6362972" cy="636297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0" id="10"/>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2395493" y="4025429"/>
            <a:ext cx="4254023" cy="4114800"/>
          </a:xfrm>
          <a:custGeom>
            <a:avLst/>
            <a:gdLst/>
            <a:ahLst/>
            <a:cxnLst/>
            <a:rect r="r" b="b" t="t" l="l"/>
            <a:pathLst>
              <a:path h="4114800" w="4254023">
                <a:moveTo>
                  <a:pt x="0" y="0"/>
                </a:moveTo>
                <a:lnTo>
                  <a:pt x="4254023" y="0"/>
                </a:lnTo>
                <a:lnTo>
                  <a:pt x="4254023"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3" id="13"/>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4" id="14"/>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5" id="15"/>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Freeform 16" id="16"/>
          <p:cNvSpPr/>
          <p:nvPr/>
        </p:nvSpPr>
        <p:spPr>
          <a:xfrm flipH="true" flipV="false" rot="551149">
            <a:off x="14745450" y="1681502"/>
            <a:ext cx="3920282" cy="4114800"/>
          </a:xfrm>
          <a:custGeom>
            <a:avLst/>
            <a:gdLst/>
            <a:ahLst/>
            <a:cxnLst/>
            <a:rect r="r" b="b" t="t" l="l"/>
            <a:pathLst>
              <a:path h="4114800" w="3920282">
                <a:moveTo>
                  <a:pt x="3920282" y="0"/>
                </a:moveTo>
                <a:lnTo>
                  <a:pt x="0" y="0"/>
                </a:lnTo>
                <a:lnTo>
                  <a:pt x="0" y="4114800"/>
                </a:lnTo>
                <a:lnTo>
                  <a:pt x="3920282" y="4114800"/>
                </a:lnTo>
                <a:lnTo>
                  <a:pt x="392028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9160151" y="4518598"/>
            <a:ext cx="7812811" cy="2059305"/>
          </a:xfrm>
          <a:prstGeom prst="rect">
            <a:avLst/>
          </a:prstGeom>
        </p:spPr>
        <p:txBody>
          <a:bodyPr anchor="t" rtlCol="false" tIns="0" lIns="0" bIns="0" rIns="0">
            <a:spAutoFit/>
          </a:bodyPr>
          <a:lstStyle/>
          <a:p>
            <a:pPr algn="l" marL="0" indent="0" lvl="0">
              <a:lnSpc>
                <a:spcPts val="7979"/>
              </a:lnSpc>
              <a:spcBef>
                <a:spcPct val="0"/>
              </a:spcBef>
            </a:pPr>
            <a:r>
              <a:rPr lang="en-US" sz="7599">
                <a:solidFill>
                  <a:srgbClr val="FFFFFF"/>
                </a:solidFill>
                <a:latin typeface="Sniglet"/>
                <a:ea typeface="Sniglet"/>
                <a:cs typeface="Sniglet"/>
                <a:sym typeface="Sniglet"/>
              </a:rPr>
              <a:t>kendala dan solusi </a:t>
            </a:r>
          </a:p>
        </p:txBody>
      </p:sp>
      <p:sp>
        <p:nvSpPr>
          <p:cNvPr name="TextBox 18" id="18"/>
          <p:cNvSpPr txBox="true"/>
          <p:nvPr/>
        </p:nvSpPr>
        <p:spPr>
          <a:xfrm rot="0">
            <a:off x="9150626" y="6463829"/>
            <a:ext cx="7122557" cy="3009265"/>
          </a:xfrm>
          <a:prstGeom prst="rect">
            <a:avLst/>
          </a:prstGeom>
        </p:spPr>
        <p:txBody>
          <a:bodyPr anchor="t" rtlCol="false" tIns="0" lIns="0" bIns="0" rIns="0">
            <a:spAutoFit/>
          </a:bodyPr>
          <a:lstStyle/>
          <a:p>
            <a:pPr algn="just">
              <a:lnSpc>
                <a:spcPts val="2659"/>
              </a:lnSpc>
            </a:pPr>
            <a:r>
              <a:rPr lang="en-US" sz="1899">
                <a:solidFill>
                  <a:srgbClr val="1B4440"/>
                </a:solidFill>
                <a:latin typeface="Poppins"/>
                <a:ea typeface="Poppins"/>
                <a:cs typeface="Poppins"/>
                <a:sym typeface="Poppins"/>
              </a:rPr>
              <a:t>•Kendalanya membuat kode website nya yang </a:t>
            </a:r>
          </a:p>
          <a:p>
            <a:pPr algn="just">
              <a:lnSpc>
                <a:spcPts val="2659"/>
              </a:lnSpc>
            </a:pPr>
            <a:r>
              <a:rPr lang="en-US" sz="1899">
                <a:solidFill>
                  <a:srgbClr val="1B4440"/>
                </a:solidFill>
                <a:latin typeface="Poppins"/>
                <a:ea typeface="Poppins"/>
                <a:cs typeface="Poppins"/>
                <a:sym typeface="Poppins"/>
              </a:rPr>
              <a:t>nunggu nya lumayan lama.</a:t>
            </a:r>
          </a:p>
          <a:p>
            <a:pPr algn="just">
              <a:lnSpc>
                <a:spcPts val="2659"/>
              </a:lnSpc>
            </a:pPr>
            <a:r>
              <a:rPr lang="en-US" sz="1899">
                <a:solidFill>
                  <a:srgbClr val="1B4440"/>
                </a:solidFill>
                <a:latin typeface="Poppins"/>
                <a:ea typeface="Poppins"/>
                <a:cs typeface="Poppins"/>
                <a:sym typeface="Poppins"/>
              </a:rPr>
              <a:t>•solusinya Website sepatu menjadi solusi untuk mempermudah proses penjualan dan pembelian sepatu secara online. Melalui website ini, pelanggan dapat melihat berbagai model, ukuran, dan harga sepatu tanpa harus datang ke toko. Selain itu, pemilik usaha dapat mempromosikan produknya dengan lebih luas dan mengelola data penjualan secara efisien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581722" y="-652517"/>
            <a:ext cx="2789157" cy="27891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4" id="4"/>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656694"/>
            <a:ext cx="2357470" cy="406320"/>
            <a:chOff x="0" y="0"/>
            <a:chExt cx="620898" cy="107014"/>
          </a:xfrm>
        </p:grpSpPr>
        <p:sp>
          <p:nvSpPr>
            <p:cNvPr name="Freeform 6" id="6"/>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4442150" y="656694"/>
            <a:ext cx="2817150" cy="406320"/>
            <a:chOff x="0" y="0"/>
            <a:chExt cx="741965" cy="107014"/>
          </a:xfrm>
        </p:grpSpPr>
        <p:sp>
          <p:nvSpPr>
            <p:cNvPr name="Freeform 9" id="9"/>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10" id="10"/>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1382716" y="2559482"/>
            <a:ext cx="6362972" cy="636297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CE9F3">
                    <a:alpha val="75500"/>
                  </a:srgbClr>
                </a:gs>
                <a:gs pos="33333">
                  <a:srgbClr val="DBD2EA">
                    <a:alpha val="71500"/>
                  </a:srgbClr>
                </a:gs>
                <a:gs pos="66667">
                  <a:srgbClr val="B8DFED">
                    <a:alpha val="71500"/>
                  </a:srgbClr>
                </a:gs>
                <a:gs pos="100000">
                  <a:srgbClr val="9FA0DF">
                    <a:alpha val="71500"/>
                  </a:srgbClr>
                </a:gs>
              </a:gsLst>
              <a:lin ang="2700000"/>
            </a:gradFill>
            <a:ln w="9525" cap="rnd">
              <a:solidFill>
                <a:srgbClr val="FFFFFF"/>
              </a:solidFill>
              <a:prstDash val="solid"/>
              <a:round/>
            </a:ln>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10044462" y="2559482"/>
            <a:ext cx="4895539" cy="5168036"/>
          </a:xfrm>
          <a:custGeom>
            <a:avLst/>
            <a:gdLst/>
            <a:ahLst/>
            <a:cxnLst/>
            <a:rect r="r" b="b" t="t" l="l"/>
            <a:pathLst>
              <a:path h="5168036" w="4895539">
                <a:moveTo>
                  <a:pt x="0" y="0"/>
                </a:moveTo>
                <a:lnTo>
                  <a:pt x="4895539" y="0"/>
                </a:lnTo>
                <a:lnTo>
                  <a:pt x="4895539" y="5168036"/>
                </a:lnTo>
                <a:lnTo>
                  <a:pt x="0" y="5168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3373532" y="1608817"/>
            <a:ext cx="1942268" cy="2789157"/>
          </a:xfrm>
          <a:custGeom>
            <a:avLst/>
            <a:gdLst/>
            <a:ahLst/>
            <a:cxnLst/>
            <a:rect r="r" b="b" t="t" l="l"/>
            <a:pathLst>
              <a:path h="2789157" w="1942268">
                <a:moveTo>
                  <a:pt x="0" y="0"/>
                </a:moveTo>
                <a:lnTo>
                  <a:pt x="1942268" y="0"/>
                </a:lnTo>
                <a:lnTo>
                  <a:pt x="1942268" y="2789157"/>
                </a:lnTo>
                <a:lnTo>
                  <a:pt x="0" y="27891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573446">
            <a:off x="-1199208" y="6665144"/>
            <a:ext cx="4024128" cy="3877796"/>
          </a:xfrm>
          <a:custGeom>
            <a:avLst/>
            <a:gdLst/>
            <a:ahLst/>
            <a:cxnLst/>
            <a:rect r="r" b="b" t="t" l="l"/>
            <a:pathLst>
              <a:path h="3877796" w="4024128">
                <a:moveTo>
                  <a:pt x="0" y="0"/>
                </a:moveTo>
                <a:lnTo>
                  <a:pt x="4024129" y="0"/>
                </a:lnTo>
                <a:lnTo>
                  <a:pt x="4024129" y="3877797"/>
                </a:lnTo>
                <a:lnTo>
                  <a:pt x="0" y="38777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8" id="18"/>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9" id="19"/>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20" id="20"/>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21" id="21"/>
          <p:cNvSpPr txBox="true"/>
          <p:nvPr/>
        </p:nvSpPr>
        <p:spPr>
          <a:xfrm rot="0">
            <a:off x="1676316" y="2688952"/>
            <a:ext cx="7812811" cy="1049655"/>
          </a:xfrm>
          <a:prstGeom prst="rect">
            <a:avLst/>
          </a:prstGeom>
        </p:spPr>
        <p:txBody>
          <a:bodyPr anchor="t" rtlCol="false" tIns="0" lIns="0" bIns="0" rIns="0">
            <a:spAutoFit/>
          </a:bodyPr>
          <a:lstStyle/>
          <a:p>
            <a:pPr algn="l" marL="0" indent="0" lvl="0">
              <a:lnSpc>
                <a:spcPts val="7979"/>
              </a:lnSpc>
              <a:spcBef>
                <a:spcPct val="0"/>
              </a:spcBef>
            </a:pPr>
            <a:r>
              <a:rPr lang="en-US" sz="7599">
                <a:solidFill>
                  <a:srgbClr val="FFFFFF"/>
                </a:solidFill>
                <a:latin typeface="Sniglet"/>
                <a:ea typeface="Sniglet"/>
                <a:cs typeface="Sniglet"/>
                <a:sym typeface="Sniglet"/>
              </a:rPr>
              <a:t>kesimpulan </a:t>
            </a:r>
          </a:p>
        </p:txBody>
      </p:sp>
      <p:sp>
        <p:nvSpPr>
          <p:cNvPr name="TextBox 22" id="22"/>
          <p:cNvSpPr txBox="true"/>
          <p:nvPr/>
        </p:nvSpPr>
        <p:spPr>
          <a:xfrm rot="0">
            <a:off x="1619166" y="4503036"/>
            <a:ext cx="7122557" cy="2342515"/>
          </a:xfrm>
          <a:prstGeom prst="rect">
            <a:avLst/>
          </a:prstGeom>
        </p:spPr>
        <p:txBody>
          <a:bodyPr anchor="t" rtlCol="false" tIns="0" lIns="0" bIns="0" rIns="0">
            <a:spAutoFit/>
          </a:bodyPr>
          <a:lstStyle/>
          <a:p>
            <a:pPr algn="just">
              <a:lnSpc>
                <a:spcPts val="2659"/>
              </a:lnSpc>
            </a:pPr>
            <a:r>
              <a:rPr lang="en-US" sz="1899">
                <a:solidFill>
                  <a:srgbClr val="1B4440"/>
                </a:solidFill>
                <a:latin typeface="Poppins"/>
                <a:ea typeface="Poppins"/>
                <a:cs typeface="Poppins"/>
                <a:sym typeface="Poppins"/>
              </a:rPr>
              <a:t>Website sepatu dibuat untuk memudahkan pengguna dalam mencari, memilih, dan membeli sepatu secara online. Dengan adanya website ini, proses jual beli menjadi lebih cepat, praktis, dan efisien tanpa harus datang ke toko langsung. Selain itu, website juga membantu penjual memperluas jangkauan pasar dan meningkatkan penjualan.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CDE5">
                <a:alpha val="43500"/>
              </a:srgbClr>
            </a:gs>
            <a:gs pos="33333">
              <a:srgbClr val="D5FFF8">
                <a:alpha val="46000"/>
              </a:srgbClr>
            </a:gs>
            <a:gs pos="66667">
              <a:srgbClr val="BBB2FF">
                <a:alpha val="39500"/>
              </a:srgbClr>
            </a:gs>
            <a:gs pos="100000">
              <a:srgbClr val="FFF6CC">
                <a:alpha val="52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1028700" y="656694"/>
            <a:ext cx="2357470" cy="406320"/>
            <a:chOff x="0" y="0"/>
            <a:chExt cx="620898" cy="107014"/>
          </a:xfrm>
        </p:grpSpPr>
        <p:sp>
          <p:nvSpPr>
            <p:cNvPr name="Freeform 3" id="3"/>
            <p:cNvSpPr/>
            <p:nvPr/>
          </p:nvSpPr>
          <p:spPr>
            <a:xfrm flipH="false" flipV="false" rot="0">
              <a:off x="0" y="0"/>
              <a:ext cx="620898" cy="107014"/>
            </a:xfrm>
            <a:custGeom>
              <a:avLst/>
              <a:gdLst/>
              <a:ahLst/>
              <a:cxnLst/>
              <a:rect r="r" b="b" t="t" l="l"/>
              <a:pathLst>
                <a:path h="107014" w="620898">
                  <a:moveTo>
                    <a:pt x="53507" y="0"/>
                  </a:moveTo>
                  <a:lnTo>
                    <a:pt x="567390" y="0"/>
                  </a:lnTo>
                  <a:cubicBezTo>
                    <a:pt x="596942" y="0"/>
                    <a:pt x="620898" y="23956"/>
                    <a:pt x="620898" y="53507"/>
                  </a:cubicBezTo>
                  <a:lnTo>
                    <a:pt x="620898" y="53507"/>
                  </a:lnTo>
                  <a:cubicBezTo>
                    <a:pt x="620898" y="83058"/>
                    <a:pt x="596942" y="107014"/>
                    <a:pt x="567390"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4" id="4"/>
            <p:cNvSpPr txBox="true"/>
            <p:nvPr/>
          </p:nvSpPr>
          <p:spPr>
            <a:xfrm>
              <a:off x="0" y="-57150"/>
              <a:ext cx="620898" cy="16416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4442150" y="656694"/>
            <a:ext cx="2817150" cy="406320"/>
            <a:chOff x="0" y="0"/>
            <a:chExt cx="741965" cy="107014"/>
          </a:xfrm>
        </p:grpSpPr>
        <p:sp>
          <p:nvSpPr>
            <p:cNvPr name="Freeform 6" id="6"/>
            <p:cNvSpPr/>
            <p:nvPr/>
          </p:nvSpPr>
          <p:spPr>
            <a:xfrm flipH="false" flipV="false" rot="0">
              <a:off x="0" y="0"/>
              <a:ext cx="741965" cy="107014"/>
            </a:xfrm>
            <a:custGeom>
              <a:avLst/>
              <a:gdLst/>
              <a:ahLst/>
              <a:cxnLst/>
              <a:rect r="r" b="b" t="t" l="l"/>
              <a:pathLst>
                <a:path h="107014" w="741965">
                  <a:moveTo>
                    <a:pt x="53507" y="0"/>
                  </a:moveTo>
                  <a:lnTo>
                    <a:pt x="688458" y="0"/>
                  </a:lnTo>
                  <a:cubicBezTo>
                    <a:pt x="718009" y="0"/>
                    <a:pt x="741965" y="23956"/>
                    <a:pt x="741965" y="53507"/>
                  </a:cubicBezTo>
                  <a:lnTo>
                    <a:pt x="741965" y="53507"/>
                  </a:lnTo>
                  <a:cubicBezTo>
                    <a:pt x="741965" y="83058"/>
                    <a:pt x="718009" y="107014"/>
                    <a:pt x="688458" y="107014"/>
                  </a:cubicBezTo>
                  <a:lnTo>
                    <a:pt x="53507" y="107014"/>
                  </a:lnTo>
                  <a:cubicBezTo>
                    <a:pt x="23956" y="107014"/>
                    <a:pt x="0" y="83058"/>
                    <a:pt x="0" y="53507"/>
                  </a:cubicBezTo>
                  <a:lnTo>
                    <a:pt x="0" y="53507"/>
                  </a:lnTo>
                  <a:cubicBezTo>
                    <a:pt x="0" y="23956"/>
                    <a:pt x="23956" y="0"/>
                    <a:pt x="53507" y="0"/>
                  </a:cubicBezTo>
                  <a:close/>
                </a:path>
              </a:pathLst>
            </a:custGeom>
            <a:gradFill rotWithShape="true">
              <a:gsLst>
                <a:gs pos="0">
                  <a:srgbClr val="FCE9F3">
                    <a:alpha val="75500"/>
                  </a:srgbClr>
                </a:gs>
                <a:gs pos="100000">
                  <a:srgbClr val="DBD2EA">
                    <a:alpha val="71500"/>
                  </a:srgbClr>
                </a:gs>
              </a:gsLst>
              <a:lin ang="0"/>
            </a:gradFill>
            <a:ln w="9525" cap="rnd">
              <a:solidFill>
                <a:srgbClr val="FFFFFF"/>
              </a:solidFill>
              <a:prstDash val="solid"/>
              <a:round/>
            </a:ln>
          </p:spPr>
        </p:sp>
        <p:sp>
          <p:nvSpPr>
            <p:cNvPr name="TextBox 7" id="7"/>
            <p:cNvSpPr txBox="true"/>
            <p:nvPr/>
          </p:nvSpPr>
          <p:spPr>
            <a:xfrm>
              <a:off x="0" y="-57150"/>
              <a:ext cx="741965" cy="164164"/>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4847096" y="4568466"/>
            <a:ext cx="3725764" cy="4114800"/>
          </a:xfrm>
          <a:custGeom>
            <a:avLst/>
            <a:gdLst/>
            <a:ahLst/>
            <a:cxnLst/>
            <a:rect r="r" b="b" t="t" l="l"/>
            <a:pathLst>
              <a:path h="4114800" w="3725764">
                <a:moveTo>
                  <a:pt x="0" y="0"/>
                </a:moveTo>
                <a:lnTo>
                  <a:pt x="3725764" y="0"/>
                </a:lnTo>
                <a:lnTo>
                  <a:pt x="3725764"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2464903" y="3699164"/>
            <a:ext cx="13358194" cy="2172181"/>
          </a:xfrm>
          <a:prstGeom prst="rect">
            <a:avLst/>
          </a:prstGeom>
        </p:spPr>
        <p:txBody>
          <a:bodyPr anchor="t" rtlCol="false" tIns="0" lIns="0" bIns="0" rIns="0">
            <a:spAutoFit/>
          </a:bodyPr>
          <a:lstStyle/>
          <a:p>
            <a:pPr algn="ctr" marL="0" indent="0" lvl="0">
              <a:lnSpc>
                <a:spcPts val="16595"/>
              </a:lnSpc>
              <a:spcBef>
                <a:spcPct val="0"/>
              </a:spcBef>
            </a:pPr>
            <a:r>
              <a:rPr lang="en-US" sz="15805" strike="noStrike" u="none">
                <a:solidFill>
                  <a:srgbClr val="FFFFFF"/>
                </a:solidFill>
                <a:latin typeface="Sniglet"/>
                <a:ea typeface="Sniglet"/>
                <a:cs typeface="Sniglet"/>
                <a:sym typeface="Sniglet"/>
              </a:rPr>
              <a:t>Thank You</a:t>
            </a:r>
          </a:p>
        </p:txBody>
      </p:sp>
      <p:sp>
        <p:nvSpPr>
          <p:cNvPr name="Freeform 10" id="10"/>
          <p:cNvSpPr/>
          <p:nvPr/>
        </p:nvSpPr>
        <p:spPr>
          <a:xfrm flipH="false" flipV="false" rot="0">
            <a:off x="-388933" y="2169368"/>
            <a:ext cx="2874126" cy="2602391"/>
          </a:xfrm>
          <a:custGeom>
            <a:avLst/>
            <a:gdLst/>
            <a:ahLst/>
            <a:cxnLst/>
            <a:rect r="r" b="b" t="t" l="l"/>
            <a:pathLst>
              <a:path h="2602391" w="2874126">
                <a:moveTo>
                  <a:pt x="0" y="0"/>
                </a:moveTo>
                <a:lnTo>
                  <a:pt x="2874126" y="0"/>
                </a:lnTo>
                <a:lnTo>
                  <a:pt x="2874126" y="2602391"/>
                </a:lnTo>
                <a:lnTo>
                  <a:pt x="0" y="26023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48130" y="694436"/>
            <a:ext cx="231861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Ingoude Company</a:t>
            </a:r>
          </a:p>
        </p:txBody>
      </p:sp>
      <p:sp>
        <p:nvSpPr>
          <p:cNvPr name="TextBox 12" id="12"/>
          <p:cNvSpPr txBox="true"/>
          <p:nvPr/>
        </p:nvSpPr>
        <p:spPr>
          <a:xfrm rot="0">
            <a:off x="14564202" y="694436"/>
            <a:ext cx="751598"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Home</a:t>
            </a:r>
          </a:p>
        </p:txBody>
      </p:sp>
      <p:sp>
        <p:nvSpPr>
          <p:cNvPr name="TextBox 13" id="13"/>
          <p:cNvSpPr txBox="true"/>
          <p:nvPr/>
        </p:nvSpPr>
        <p:spPr>
          <a:xfrm rot="0">
            <a:off x="15407265" y="694436"/>
            <a:ext cx="831664"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Video</a:t>
            </a:r>
          </a:p>
        </p:txBody>
      </p:sp>
      <p:sp>
        <p:nvSpPr>
          <p:cNvPr name="TextBox 14" id="14"/>
          <p:cNvSpPr txBox="true"/>
          <p:nvPr/>
        </p:nvSpPr>
        <p:spPr>
          <a:xfrm rot="0">
            <a:off x="16282708" y="694436"/>
            <a:ext cx="854540" cy="283210"/>
          </a:xfrm>
          <a:prstGeom prst="rect">
            <a:avLst/>
          </a:prstGeom>
        </p:spPr>
        <p:txBody>
          <a:bodyPr anchor="t" rtlCol="false" tIns="0" lIns="0" bIns="0" rIns="0">
            <a:spAutoFit/>
          </a:bodyPr>
          <a:lstStyle/>
          <a:p>
            <a:pPr algn="ctr">
              <a:lnSpc>
                <a:spcPts val="2239"/>
              </a:lnSpc>
            </a:pPr>
            <a:r>
              <a:rPr lang="en-US" sz="1599">
                <a:solidFill>
                  <a:srgbClr val="1B4440"/>
                </a:solidFill>
                <a:latin typeface="Poppins"/>
                <a:ea typeface="Poppins"/>
                <a:cs typeface="Poppins"/>
                <a:sym typeface="Poppins"/>
              </a:rPr>
              <a:t>Profile</a:t>
            </a:r>
          </a:p>
        </p:txBody>
      </p:sp>
      <p:sp>
        <p:nvSpPr>
          <p:cNvPr name="TextBox 15" id="15"/>
          <p:cNvSpPr txBox="true"/>
          <p:nvPr/>
        </p:nvSpPr>
        <p:spPr>
          <a:xfrm rot="0">
            <a:off x="2207435" y="5908832"/>
            <a:ext cx="13873130" cy="1291193"/>
          </a:xfrm>
          <a:prstGeom prst="rect">
            <a:avLst/>
          </a:prstGeom>
        </p:spPr>
        <p:txBody>
          <a:bodyPr anchor="t" rtlCol="false" tIns="0" lIns="0" bIns="0" rIns="0">
            <a:spAutoFit/>
          </a:bodyPr>
          <a:lstStyle/>
          <a:p>
            <a:pPr algn="ctr">
              <a:lnSpc>
                <a:spcPts val="10557"/>
              </a:lnSpc>
            </a:pPr>
            <a:r>
              <a:rPr lang="en-US" b="true" sz="7540">
                <a:solidFill>
                  <a:srgbClr val="2C605A"/>
                </a:solidFill>
                <a:latin typeface="Open Sans Bold"/>
                <a:ea typeface="Open Sans Bold"/>
                <a:cs typeface="Open Sans Bold"/>
                <a:sym typeface="Open Sans Bold"/>
              </a:rPr>
              <a:t>iyahh guys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DAG2g2h21UU</dc:identifier>
  <dcterms:modified xsi:type="dcterms:W3CDTF">2011-08-01T06:04:30Z</dcterms:modified>
  <cp:revision>1</cp:revision>
  <dc:title>Website CRUD sepatu with</dc:title>
</cp:coreProperties>
</file>